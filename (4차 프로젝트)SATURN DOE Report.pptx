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  <p:sldMasterId id="2147484472" r:id="rId2"/>
  </p:sldMasterIdLst>
  <p:notesMasterIdLst>
    <p:notesMasterId r:id="rId13"/>
  </p:notesMasterIdLst>
  <p:handoutMasterIdLst>
    <p:handoutMasterId r:id="rId14"/>
  </p:handoutMasterIdLst>
  <p:sldIdLst>
    <p:sldId id="318" r:id="rId3"/>
    <p:sldId id="613" r:id="rId4"/>
    <p:sldId id="614" r:id="rId5"/>
    <p:sldId id="442" r:id="rId6"/>
    <p:sldId id="571" r:id="rId7"/>
    <p:sldId id="607" r:id="rId8"/>
    <p:sldId id="608" r:id="rId9"/>
    <p:sldId id="609" r:id="rId10"/>
    <p:sldId id="610" r:id="rId11"/>
    <p:sldId id="615" r:id="rId12"/>
  </p:sldIdLst>
  <p:sldSz cx="9906000" cy="6858000" type="A4"/>
  <p:notesSz cx="6797675" cy="9874250"/>
  <p:embeddedFontLst>
    <p:embeddedFont>
      <p:font typeface="Tahoma" panose="020B0604030504040204" pitchFamily="34" charset="0"/>
      <p:regular r:id="rId15"/>
      <p:bold r:id="rId16"/>
    </p:embeddedFont>
    <p:embeddedFont>
      <p:font typeface="Trebuchet MS" panose="020B0603020202020204" pitchFamily="34" charset="0"/>
      <p:regular r:id="rId17"/>
      <p:bold r:id="rId18"/>
      <p:italic r:id="rId19"/>
      <p:boldItalic r:id="rId20"/>
    </p:embeddedFont>
    <p:embeddedFont>
      <p:font typeface="Verdana" panose="020B0604030504040204" pitchFamily="34" charset="0"/>
      <p:regular r:id="rId21"/>
      <p:bold r:id="rId22"/>
      <p:italic r:id="rId23"/>
      <p:boldItalic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>
          <p15:clr>
            <a:srgbClr val="A4A3A4"/>
          </p15:clr>
        </p15:guide>
        <p15:guide id="2" orient="horz" pos="527">
          <p15:clr>
            <a:srgbClr val="A4A3A4"/>
          </p15:clr>
        </p15:guide>
        <p15:guide id="3" pos="4209">
          <p15:clr>
            <a:srgbClr val="A4A3A4"/>
          </p15:clr>
        </p15:guide>
        <p15:guide id="4" pos="1623">
          <p15:clr>
            <a:srgbClr val="A4A3A4"/>
          </p15:clr>
        </p15:guide>
        <p15:guide id="5" pos="489">
          <p15:clr>
            <a:srgbClr val="A4A3A4"/>
          </p15:clr>
        </p15:guide>
        <p15:guide id="6" pos="172">
          <p15:clr>
            <a:srgbClr val="A4A3A4"/>
          </p15:clr>
        </p15:guide>
        <p15:guide id="7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2F2F2"/>
    <a:srgbClr val="CCFFCC"/>
    <a:srgbClr val="FFFFCC"/>
    <a:srgbClr val="3366FF"/>
    <a:srgbClr val="333399"/>
    <a:srgbClr val="666699"/>
    <a:srgbClr val="FF66FF"/>
    <a:srgbClr val="33CC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02" autoAdjust="0"/>
    <p:restoredTop sz="96464" autoAdjust="0"/>
  </p:normalViewPr>
  <p:slideViewPr>
    <p:cSldViewPr>
      <p:cViewPr varScale="1">
        <p:scale>
          <a:sx n="81" d="100"/>
          <a:sy n="81" d="100"/>
        </p:scale>
        <p:origin x="1142" y="67"/>
      </p:cViewPr>
      <p:guideLst>
        <p:guide orient="horz" pos="346"/>
        <p:guide orient="horz" pos="527"/>
        <p:guide pos="4209"/>
        <p:guide pos="1623"/>
        <p:guide pos="489"/>
        <p:guide pos="172"/>
        <p:guide pos="6068"/>
      </p:guideLst>
    </p:cSldViewPr>
  </p:slideViewPr>
  <p:outlineViewPr>
    <p:cViewPr>
      <p:scale>
        <a:sx n="100" d="100"/>
        <a:sy n="100" d="100"/>
      </p:scale>
      <p:origin x="0" y="-1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295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모 김" userId="cbf4f3c9f080b7b9" providerId="LiveId" clId="{B69747D4-AB10-4FFF-8ECA-B2FB6A0122C1}"/>
    <pc:docChg chg="undo custSel modSld">
      <pc:chgData name="용모 김" userId="cbf4f3c9f080b7b9" providerId="LiveId" clId="{B69747D4-AB10-4FFF-8ECA-B2FB6A0122C1}" dt="2026-09-12T13:23:46.506" v="651" actId="20577"/>
      <pc:docMkLst>
        <pc:docMk/>
      </pc:docMkLst>
      <pc:sldChg chg="modSp mod">
        <pc:chgData name="용모 김" userId="cbf4f3c9f080b7b9" providerId="LiveId" clId="{B69747D4-AB10-4FFF-8ECA-B2FB6A0122C1}" dt="2026-09-12T13:19:39.166" v="321" actId="20577"/>
        <pc:sldMkLst>
          <pc:docMk/>
          <pc:sldMk cId="0" sldId="318"/>
        </pc:sldMkLst>
        <pc:spChg chg="mod">
          <ac:chgData name="용모 김" userId="cbf4f3c9f080b7b9" providerId="LiveId" clId="{B69747D4-AB10-4FFF-8ECA-B2FB6A0122C1}" dt="2026-09-12T13:19:39.166" v="321" actId="20577"/>
          <ac:spMkLst>
            <pc:docMk/>
            <pc:sldMk cId="0" sldId="318"/>
            <ac:spMk id="10" creationId="{00000000-0000-0000-0000-000000000000}"/>
          </ac:spMkLst>
        </pc:spChg>
      </pc:sldChg>
      <pc:sldChg chg="modSp mod">
        <pc:chgData name="용모 김" userId="cbf4f3c9f080b7b9" providerId="LiveId" clId="{B69747D4-AB10-4FFF-8ECA-B2FB6A0122C1}" dt="2026-09-12T13:03:54.355" v="79"/>
        <pc:sldMkLst>
          <pc:docMk/>
          <pc:sldMk cId="3371503832" sldId="571"/>
        </pc:sldMkLst>
        <pc:graphicFrameChg chg="mod modGraphic">
          <ac:chgData name="용모 김" userId="cbf4f3c9f080b7b9" providerId="LiveId" clId="{B69747D4-AB10-4FFF-8ECA-B2FB6A0122C1}" dt="2026-09-12T13:03:54.355" v="79"/>
          <ac:graphicFrameMkLst>
            <pc:docMk/>
            <pc:sldMk cId="3371503832" sldId="571"/>
            <ac:graphicFrameMk id="3" creationId="{00000000-0000-0000-0000-000000000000}"/>
          </ac:graphicFrameMkLst>
        </pc:graphicFrameChg>
      </pc:sldChg>
      <pc:sldChg chg="addSp modSp mod">
        <pc:chgData name="용모 김" userId="cbf4f3c9f080b7b9" providerId="LiveId" clId="{B69747D4-AB10-4FFF-8ECA-B2FB6A0122C1}" dt="2026-09-12T13:11:20.205" v="162" actId="122"/>
        <pc:sldMkLst>
          <pc:docMk/>
          <pc:sldMk cId="1252913929" sldId="607"/>
        </pc:sldMkLst>
        <pc:spChg chg="add mod">
          <ac:chgData name="용모 김" userId="cbf4f3c9f080b7b9" providerId="LiveId" clId="{B69747D4-AB10-4FFF-8ECA-B2FB6A0122C1}" dt="2026-09-12T13:05:19.736" v="85" actId="1076"/>
          <ac:spMkLst>
            <pc:docMk/>
            <pc:sldMk cId="1252913929" sldId="607"/>
            <ac:spMk id="2" creationId="{1CC654EE-2EDF-A2A2-9396-26A2206C3FA6}"/>
          </ac:spMkLst>
        </pc:spChg>
        <pc:graphicFrameChg chg="mod">
          <ac:chgData name="용모 김" userId="cbf4f3c9f080b7b9" providerId="LiveId" clId="{B69747D4-AB10-4FFF-8ECA-B2FB6A0122C1}" dt="2026-09-12T13:04:52.485" v="83"/>
          <ac:graphicFrameMkLst>
            <pc:docMk/>
            <pc:sldMk cId="1252913929" sldId="607"/>
            <ac:graphicFrameMk id="15" creationId="{00000000-0000-0000-0000-000000000000}"/>
          </ac:graphicFrameMkLst>
        </pc:graphicFrameChg>
        <pc:graphicFrameChg chg="mod modGraphic">
          <ac:chgData name="용모 김" userId="cbf4f3c9f080b7b9" providerId="LiveId" clId="{B69747D4-AB10-4FFF-8ECA-B2FB6A0122C1}" dt="2026-09-12T13:11:20.205" v="162" actId="122"/>
          <ac:graphicFrameMkLst>
            <pc:docMk/>
            <pc:sldMk cId="1252913929" sldId="607"/>
            <ac:graphicFrameMk id="18" creationId="{00000000-0000-0000-0000-000000000000}"/>
          </ac:graphicFrameMkLst>
        </pc:graphicFrameChg>
      </pc:sldChg>
      <pc:sldChg chg="modSp mod">
        <pc:chgData name="용모 김" userId="cbf4f3c9f080b7b9" providerId="LiveId" clId="{B69747D4-AB10-4FFF-8ECA-B2FB6A0122C1}" dt="2026-09-12T13:16:51.095" v="259" actId="20577"/>
        <pc:sldMkLst>
          <pc:docMk/>
          <pc:sldMk cId="437223088" sldId="608"/>
        </pc:sldMkLst>
        <pc:spChg chg="mod">
          <ac:chgData name="용모 김" userId="cbf4f3c9f080b7b9" providerId="LiveId" clId="{B69747D4-AB10-4FFF-8ECA-B2FB6A0122C1}" dt="2026-09-12T13:14:17.218" v="171" actId="1076"/>
          <ac:spMkLst>
            <pc:docMk/>
            <pc:sldMk cId="437223088" sldId="608"/>
            <ac:spMk id="14" creationId="{00000000-0000-0000-0000-000000000000}"/>
          </ac:spMkLst>
        </pc:spChg>
        <pc:graphicFrameChg chg="mod modGraphic">
          <ac:chgData name="용모 김" userId="cbf4f3c9f080b7b9" providerId="LiveId" clId="{B69747D4-AB10-4FFF-8ECA-B2FB6A0122C1}" dt="2026-09-12T13:14:45.235" v="201" actId="20577"/>
          <ac:graphicFrameMkLst>
            <pc:docMk/>
            <pc:sldMk cId="437223088" sldId="608"/>
            <ac:graphicFrameMk id="13" creationId="{00000000-0000-0000-0000-000000000000}"/>
          </ac:graphicFrameMkLst>
        </pc:graphicFrameChg>
        <pc:graphicFrameChg chg="mod modGraphic">
          <ac:chgData name="용모 김" userId="cbf4f3c9f080b7b9" providerId="LiveId" clId="{B69747D4-AB10-4FFF-8ECA-B2FB6A0122C1}" dt="2026-09-12T13:16:51.095" v="259" actId="20577"/>
          <ac:graphicFrameMkLst>
            <pc:docMk/>
            <pc:sldMk cId="437223088" sldId="608"/>
            <ac:graphicFrameMk id="15" creationId="{00000000-0000-0000-0000-000000000000}"/>
          </ac:graphicFrameMkLst>
        </pc:graphicFrameChg>
      </pc:sldChg>
      <pc:sldChg chg="addSp modSp mod">
        <pc:chgData name="용모 김" userId="cbf4f3c9f080b7b9" providerId="LiveId" clId="{B69747D4-AB10-4FFF-8ECA-B2FB6A0122C1}" dt="2026-09-12T13:19:03.943" v="279" actId="122"/>
        <pc:sldMkLst>
          <pc:docMk/>
          <pc:sldMk cId="2185942070" sldId="609"/>
        </pc:sldMkLst>
        <pc:spChg chg="add mod">
          <ac:chgData name="용모 김" userId="cbf4f3c9f080b7b9" providerId="LiveId" clId="{B69747D4-AB10-4FFF-8ECA-B2FB6A0122C1}" dt="2026-09-12T13:18:43.764" v="275" actId="1076"/>
          <ac:spMkLst>
            <pc:docMk/>
            <pc:sldMk cId="2185942070" sldId="609"/>
            <ac:spMk id="2" creationId="{9AF63463-58FD-D8EC-24A4-EDBB97A9D9D2}"/>
          </ac:spMkLst>
        </pc:spChg>
        <pc:graphicFrameChg chg="mod modGraphic">
          <ac:chgData name="용모 김" userId="cbf4f3c9f080b7b9" providerId="LiveId" clId="{B69747D4-AB10-4FFF-8ECA-B2FB6A0122C1}" dt="2026-09-12T13:18:30.455" v="273"/>
          <ac:graphicFrameMkLst>
            <pc:docMk/>
            <pc:sldMk cId="2185942070" sldId="609"/>
            <ac:graphicFrameMk id="15" creationId="{00000000-0000-0000-0000-000000000000}"/>
          </ac:graphicFrameMkLst>
        </pc:graphicFrameChg>
        <pc:graphicFrameChg chg="mod modGraphic">
          <ac:chgData name="용모 김" userId="cbf4f3c9f080b7b9" providerId="LiveId" clId="{B69747D4-AB10-4FFF-8ECA-B2FB6A0122C1}" dt="2026-09-12T13:19:03.943" v="279" actId="122"/>
          <ac:graphicFrameMkLst>
            <pc:docMk/>
            <pc:sldMk cId="2185942070" sldId="609"/>
            <ac:graphicFrameMk id="19" creationId="{00000000-0000-0000-0000-000000000000}"/>
          </ac:graphicFrameMkLst>
        </pc:graphicFrameChg>
      </pc:sldChg>
      <pc:sldChg chg="addSp modSp mod">
        <pc:chgData name="용모 김" userId="cbf4f3c9f080b7b9" providerId="LiveId" clId="{B69747D4-AB10-4FFF-8ECA-B2FB6A0122C1}" dt="2026-09-12T12:58:42.839" v="50" actId="255"/>
        <pc:sldMkLst>
          <pc:docMk/>
          <pc:sldMk cId="3407155540" sldId="613"/>
        </pc:sldMkLst>
        <pc:spChg chg="add mod">
          <ac:chgData name="용모 김" userId="cbf4f3c9f080b7b9" providerId="LiveId" clId="{B69747D4-AB10-4FFF-8ECA-B2FB6A0122C1}" dt="2026-09-12T12:56:17.765" v="9" actId="1076"/>
          <ac:spMkLst>
            <pc:docMk/>
            <pc:sldMk cId="3407155540" sldId="613"/>
            <ac:spMk id="3" creationId="{224640BB-69D4-E95C-E2EF-500D9E8905E3}"/>
          </ac:spMkLst>
        </pc:spChg>
        <pc:spChg chg="add mod">
          <ac:chgData name="용모 김" userId="cbf4f3c9f080b7b9" providerId="LiveId" clId="{B69747D4-AB10-4FFF-8ECA-B2FB6A0122C1}" dt="2026-09-12T12:56:21.955" v="11" actId="1076"/>
          <ac:spMkLst>
            <pc:docMk/>
            <pc:sldMk cId="3407155540" sldId="613"/>
            <ac:spMk id="4" creationId="{A6E4DAE8-2B8D-75B8-6044-EFFC0CDDC894}"/>
          </ac:spMkLst>
        </pc:spChg>
        <pc:spChg chg="add mod">
          <ac:chgData name="용모 김" userId="cbf4f3c9f080b7b9" providerId="LiveId" clId="{B69747D4-AB10-4FFF-8ECA-B2FB6A0122C1}" dt="2026-09-12T12:56:26.393" v="13" actId="1076"/>
          <ac:spMkLst>
            <pc:docMk/>
            <pc:sldMk cId="3407155540" sldId="613"/>
            <ac:spMk id="5" creationId="{901E0466-1376-A6DF-915B-ED40012533A8}"/>
          </ac:spMkLst>
        </pc:spChg>
        <pc:spChg chg="mod">
          <ac:chgData name="용모 김" userId="cbf4f3c9f080b7b9" providerId="LiveId" clId="{B69747D4-AB10-4FFF-8ECA-B2FB6A0122C1}" dt="2026-09-12T12:57:24.880" v="39"/>
          <ac:spMkLst>
            <pc:docMk/>
            <pc:sldMk cId="3407155540" sldId="613"/>
            <ac:spMk id="12" creationId="{00000000-0000-0000-0000-000000000000}"/>
          </ac:spMkLst>
        </pc:spChg>
        <pc:spChg chg="mod">
          <ac:chgData name="용모 김" userId="cbf4f3c9f080b7b9" providerId="LiveId" clId="{B69747D4-AB10-4FFF-8ECA-B2FB6A0122C1}" dt="2026-09-12T12:58:42.839" v="50" actId="255"/>
          <ac:spMkLst>
            <pc:docMk/>
            <pc:sldMk cId="3407155540" sldId="613"/>
            <ac:spMk id="4103" creationId="{00000000-0000-0000-0000-000000000000}"/>
          </ac:spMkLst>
        </pc:spChg>
        <pc:graphicFrameChg chg="mod">
          <ac:chgData name="용모 김" userId="cbf4f3c9f080b7b9" providerId="LiveId" clId="{B69747D4-AB10-4FFF-8ECA-B2FB6A0122C1}" dt="2026-09-12T12:56:12.785" v="8" actId="1076"/>
          <ac:graphicFrameMkLst>
            <pc:docMk/>
            <pc:sldMk cId="3407155540" sldId="613"/>
            <ac:graphicFrameMk id="10" creationId="{00000000-0000-0000-0000-000000000000}"/>
          </ac:graphicFrameMkLst>
        </pc:graphicFrameChg>
      </pc:sldChg>
      <pc:sldChg chg="modSp mod">
        <pc:chgData name="용모 김" userId="cbf4f3c9f080b7b9" providerId="LiveId" clId="{B69747D4-AB10-4FFF-8ECA-B2FB6A0122C1}" dt="2026-09-12T13:00:21.445" v="63" actId="255"/>
        <pc:sldMkLst>
          <pc:docMk/>
          <pc:sldMk cId="2619822144" sldId="614"/>
        </pc:sldMkLst>
        <pc:graphicFrameChg chg="mod modGraphic">
          <ac:chgData name="용모 김" userId="cbf4f3c9f080b7b9" providerId="LiveId" clId="{B69747D4-AB10-4FFF-8ECA-B2FB6A0122C1}" dt="2026-09-12T13:00:21.445" v="63" actId="255"/>
          <ac:graphicFrameMkLst>
            <pc:docMk/>
            <pc:sldMk cId="2619822144" sldId="614"/>
            <ac:graphicFrameMk id="10" creationId="{00000000-0000-0000-0000-000000000000}"/>
          </ac:graphicFrameMkLst>
        </pc:graphicFrameChg>
      </pc:sldChg>
      <pc:sldChg chg="addSp modSp mod">
        <pc:chgData name="용모 김" userId="cbf4f3c9f080b7b9" providerId="LiveId" clId="{B69747D4-AB10-4FFF-8ECA-B2FB6A0122C1}" dt="2026-09-12T13:23:46.506" v="651" actId="20577"/>
        <pc:sldMkLst>
          <pc:docMk/>
          <pc:sldMk cId="2832460245" sldId="615"/>
        </pc:sldMkLst>
        <pc:spChg chg="add mod">
          <ac:chgData name="용모 김" userId="cbf4f3c9f080b7b9" providerId="LiveId" clId="{B69747D4-AB10-4FFF-8ECA-B2FB6A0122C1}" dt="2026-09-12T13:23:42.200" v="646" actId="207"/>
          <ac:spMkLst>
            <pc:docMk/>
            <pc:sldMk cId="2832460245" sldId="615"/>
            <ac:spMk id="2" creationId="{0CC8E3BB-C8F8-BB42-BCB7-2F93FFD89770}"/>
          </ac:spMkLst>
        </pc:spChg>
        <pc:spChg chg="add mod">
          <ac:chgData name="용모 김" userId="cbf4f3c9f080b7b9" providerId="LiveId" clId="{B69747D4-AB10-4FFF-8ECA-B2FB6A0122C1}" dt="2026-09-12T13:23:18.138" v="626" actId="255"/>
          <ac:spMkLst>
            <pc:docMk/>
            <pc:sldMk cId="2832460245" sldId="615"/>
            <ac:spMk id="3" creationId="{2DDEAB62-2D0B-B744-C58D-E40C5B47D861}"/>
          </ac:spMkLst>
        </pc:spChg>
        <pc:spChg chg="add mod">
          <ac:chgData name="용모 김" userId="cbf4f3c9f080b7b9" providerId="LiveId" clId="{B69747D4-AB10-4FFF-8ECA-B2FB6A0122C1}" dt="2026-09-12T13:23:46.506" v="651" actId="20577"/>
          <ac:spMkLst>
            <pc:docMk/>
            <pc:sldMk cId="2832460245" sldId="615"/>
            <ac:spMk id="4" creationId="{73FDA1C7-2D56-71B3-0D5F-E1462119A9B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00" tIns="45400" rIns="90800" bIns="45400" numCol="1" anchor="t" anchorCtr="0" compatLnSpc="1">
            <a:prstTxWarp prst="textNoShape">
              <a:avLst/>
            </a:prstTxWarp>
          </a:bodyPr>
          <a:lstStyle>
            <a:lvl1pPr defTabSz="908050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19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863" y="0"/>
            <a:ext cx="29448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00" tIns="45400" rIns="90800" bIns="45400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20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0538"/>
            <a:ext cx="29448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00" tIns="45400" rIns="90800" bIns="45400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21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863" y="9380538"/>
            <a:ext cx="29448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00" tIns="45400" rIns="90800" bIns="45400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fld id="{2FCA5117-1860-4317-8C42-18D6A384B88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3343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00" tIns="45400" rIns="90800" bIns="45400" numCol="1" anchor="t" anchorCtr="0" compatLnSpc="1">
            <a:prstTxWarp prst="textNoShape">
              <a:avLst/>
            </a:prstTxWarp>
          </a:bodyPr>
          <a:lstStyle>
            <a:lvl1pPr defTabSz="908050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48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00" tIns="45400" rIns="90800" bIns="45400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7075" y="741363"/>
            <a:ext cx="5345113" cy="37004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5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89475"/>
            <a:ext cx="5438775" cy="444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00" tIns="45400" rIns="90800" bIns="454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065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48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00" tIns="45400" rIns="90800" bIns="45400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65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378950"/>
            <a:ext cx="29448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00" tIns="45400" rIns="90800" bIns="45400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fld id="{E0355499-911F-44D1-A278-43A3AFF6B4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38370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2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AF372F-B77D-4FBF-A96F-EFC94A526959}" type="slidenum">
              <a:rPr lang="en-US" altLang="ko-KR" smtClean="0"/>
              <a:pPr/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9695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55499-911F-44D1-A278-43A3AFF6B429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2872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55499-911F-44D1-A278-43A3AFF6B429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49927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55499-911F-44D1-A278-43A3AFF6B429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5858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" y="160341"/>
            <a:ext cx="9761538" cy="190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995936" y="2708920"/>
            <a:ext cx="4541802" cy="2442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584" y="2924944"/>
            <a:ext cx="3312368" cy="22322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목차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885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본문_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본문_페이지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510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" y="160339"/>
            <a:ext cx="9761538" cy="190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271" y="2636912"/>
            <a:ext cx="8502945" cy="2586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465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ChangeArrowheads="1"/>
          </p:cNvSpPr>
          <p:nvPr userDrawn="1"/>
        </p:nvSpPr>
        <p:spPr bwMode="auto">
          <a:xfrm>
            <a:off x="9020309" y="6551613"/>
            <a:ext cx="863335" cy="25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ko-KR" sz="1200" b="1" baseline="0" dirty="0">
                <a:solidFill>
                  <a:srgbClr val="000000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 </a:t>
            </a:r>
            <a:fld id="{8EEABC52-EC9F-4866-BD90-88EB6D4F1464}" type="slidenum">
              <a:rPr kumimoji="0" lang="en-US" altLang="ko-KR" sz="1200" b="1" baseline="0" smtClean="0">
                <a:solidFill>
                  <a:srgbClr val="000000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pPr algn="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0" lang="en-US" altLang="ko-KR" sz="1200" b="1" baseline="0" dirty="0">
              <a:solidFill>
                <a:srgbClr val="000000"/>
              </a:solidFill>
              <a:latin typeface="Trebuchet MS" panose="020B0603020202020204" pitchFamily="34" charset="0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3523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페이지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206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ea typeface="굴림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33FB22F-F8CC-42AA-88AA-80B16353261A}" type="datetimeFigureOut">
              <a:rPr kumimoji="1" lang="ko-KR" altLang="en-US"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2026-09-12</a:t>
            </a:fld>
            <a:endParaRPr kumimoji="1" lang="ko-KR" alt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74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Line 122"/>
          <p:cNvSpPr>
            <a:spLocks noChangeShapeType="1"/>
          </p:cNvSpPr>
          <p:nvPr/>
        </p:nvSpPr>
        <p:spPr bwMode="auto">
          <a:xfrm>
            <a:off x="0" y="548680"/>
            <a:ext cx="9906000" cy="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190" name="Line 166"/>
          <p:cNvSpPr>
            <a:spLocks noChangeShapeType="1"/>
          </p:cNvSpPr>
          <p:nvPr/>
        </p:nvSpPr>
        <p:spPr bwMode="auto">
          <a:xfrm flipV="1">
            <a:off x="-15875" y="6525344"/>
            <a:ext cx="9921875" cy="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63" r:id="rId1"/>
    <p:sldLayoutId id="2147484470" r:id="rId2"/>
    <p:sldLayoutId id="2147484458" r:id="rId3"/>
    <p:sldLayoutId id="2147484471" r:id="rId4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44"/>
          <p:cNvSpPr>
            <a:spLocks noChangeArrowheads="1"/>
          </p:cNvSpPr>
          <p:nvPr/>
        </p:nvSpPr>
        <p:spPr bwMode="gray">
          <a:xfrm flipV="1">
            <a:off x="1720" y="503239"/>
            <a:ext cx="9906000" cy="34925"/>
          </a:xfrm>
          <a:prstGeom prst="rect">
            <a:avLst/>
          </a:prstGeom>
          <a:gradFill rotWithShape="1">
            <a:gsLst>
              <a:gs pos="0">
                <a:srgbClr val="800080"/>
              </a:gs>
              <a:gs pos="100000">
                <a:srgbClr val="0000FF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2400" dirty="0">
              <a:solidFill>
                <a:srgbClr val="000000"/>
              </a:solidFill>
              <a:latin typeface="굴림" charset="-127"/>
            </a:endParaRPr>
          </a:p>
        </p:txBody>
      </p:sp>
      <p:sp>
        <p:nvSpPr>
          <p:cNvPr id="1030" name="Rectangle 44"/>
          <p:cNvSpPr>
            <a:spLocks noChangeArrowheads="1"/>
          </p:cNvSpPr>
          <p:nvPr/>
        </p:nvSpPr>
        <p:spPr bwMode="gray">
          <a:xfrm rot="10800000" flipV="1">
            <a:off x="-3440" y="6511926"/>
            <a:ext cx="9906000" cy="36513"/>
          </a:xfrm>
          <a:prstGeom prst="rect">
            <a:avLst/>
          </a:prstGeom>
          <a:gradFill rotWithShape="1">
            <a:gsLst>
              <a:gs pos="0">
                <a:srgbClr val="800080"/>
              </a:gs>
              <a:gs pos="100000">
                <a:srgbClr val="0000FF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2400" dirty="0">
              <a:solidFill>
                <a:srgbClr val="000000"/>
              </a:solidFill>
              <a:latin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7052797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473" r:id="rId1"/>
    <p:sldLayoutId id="2147484474" r:id="rId2"/>
    <p:sldLayoutId id="2147484475" r:id="rId3"/>
    <p:sldLayoutId id="2147484476" r:id="rId4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buFont typeface="Wingdings" pitchFamily="2" charset="2"/>
        <a:buChar char="v"/>
        <a:defRPr sz="3200" b="1">
          <a:solidFill>
            <a:schemeClr val="tx1"/>
          </a:solidFill>
          <a:latin typeface="Trebuchet MS" pitchFamily="34" charset="0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buFont typeface="Wingdings" pitchFamily="2" charset="2"/>
        <a:buChar char="v"/>
        <a:defRPr sz="3200" b="1">
          <a:solidFill>
            <a:schemeClr val="tx1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buFont typeface="Wingdings" pitchFamily="2" charset="2"/>
        <a:buChar char="v"/>
        <a:defRPr sz="3200" b="1">
          <a:solidFill>
            <a:schemeClr val="tx1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buFont typeface="Wingdings" pitchFamily="2" charset="2"/>
        <a:buChar char="v"/>
        <a:defRPr sz="3200" b="1">
          <a:solidFill>
            <a:schemeClr val="tx1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buFont typeface="Wingdings" pitchFamily="2" charset="2"/>
        <a:buChar char="v"/>
        <a:defRPr sz="3200" b="1">
          <a:solidFill>
            <a:schemeClr val="tx1"/>
          </a:solidFill>
          <a:latin typeface="Trebuchet MS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Verdana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Verdana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Verdana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u"/>
        <a:defRPr sz="1600" b="1">
          <a:solidFill>
            <a:schemeClr val="bg2"/>
          </a:solidFill>
          <a:latin typeface="Trebuchet MS" pitchFamily="34" charset="0"/>
          <a:ea typeface="HY견명조" pitchFamily="18" charset="-127"/>
          <a:cs typeface="+mn-cs"/>
        </a:defRPr>
      </a:lvl1pPr>
      <a:lvl2pPr marL="539750" indent="-179388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l"/>
        <a:defRPr sz="1400" b="1">
          <a:solidFill>
            <a:schemeClr val="bg2"/>
          </a:solidFill>
          <a:latin typeface="Trebuchet MS" pitchFamily="34" charset="0"/>
          <a:ea typeface="HY견명조" pitchFamily="18" charset="-127"/>
        </a:defRPr>
      </a:lvl2pPr>
      <a:lvl3pPr marL="719138" indent="-179388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Clr>
          <a:srgbClr val="002060"/>
        </a:buClr>
        <a:buSzPct val="100000"/>
        <a:buFont typeface="Wingdings" pitchFamily="2" charset="2"/>
        <a:buChar char="§"/>
        <a:defRPr sz="1400" b="1">
          <a:solidFill>
            <a:schemeClr val="bg2"/>
          </a:solidFill>
          <a:latin typeface="Trebuchet MS" pitchFamily="34" charset="0"/>
          <a:ea typeface="HY견명조" pitchFamily="18" charset="-127"/>
        </a:defRPr>
      </a:lvl3pPr>
      <a:lvl4pPr marL="898525" indent="-179388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Clr>
          <a:srgbClr val="002060"/>
        </a:buClr>
        <a:buSzPct val="60000"/>
        <a:buFont typeface="Wingdings" pitchFamily="2" charset="2"/>
        <a:buChar char="u"/>
        <a:defRPr sz="1400" b="1">
          <a:solidFill>
            <a:schemeClr val="bg2"/>
          </a:solidFill>
          <a:latin typeface="Trebuchet MS" pitchFamily="34" charset="0"/>
          <a:ea typeface="HY견명조" pitchFamily="18" charset="-127"/>
        </a:defRPr>
      </a:lvl4pPr>
      <a:lvl5pPr marL="1114425" indent="-179388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Clr>
          <a:srgbClr val="002060"/>
        </a:buClr>
        <a:buSzPct val="100000"/>
        <a:buFont typeface="Arial" pitchFamily="34" charset="0"/>
        <a:buChar char="•"/>
        <a:defRPr sz="1400" b="1">
          <a:solidFill>
            <a:schemeClr val="bg2"/>
          </a:solidFill>
          <a:latin typeface="Trebuchet MS" pitchFamily="34" charset="0"/>
          <a:ea typeface="HY견명조" pitchFamily="18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u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u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u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u"/>
        <a:defRPr sz="14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Line 6"/>
          <p:cNvSpPr>
            <a:spLocks noChangeShapeType="1"/>
          </p:cNvSpPr>
          <p:nvPr/>
        </p:nvSpPr>
        <p:spPr bwMode="auto">
          <a:xfrm>
            <a:off x="0" y="1844675"/>
            <a:ext cx="9906000" cy="0"/>
          </a:xfrm>
          <a:prstGeom prst="line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b"/>
          <a:lstStyle/>
          <a:p>
            <a:endParaRPr lang="ko-KR" alt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8" name="TextBox 24"/>
          <p:cNvSpPr txBox="1">
            <a:spLocks noChangeArrowheads="1"/>
          </p:cNvSpPr>
          <p:nvPr/>
        </p:nvSpPr>
        <p:spPr bwMode="auto">
          <a:xfrm>
            <a:off x="-312" y="1556792"/>
            <a:ext cx="9901641" cy="76941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lIns="91415" tIns="45707" rIns="91415" bIns="4570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4400" dirty="0">
                <a:solidFill>
                  <a:srgbClr val="FFFFFF"/>
                </a:solidFill>
                <a:latin typeface="Trebuchet MS" panose="020B0603020202020204" pitchFamily="34" charset="0"/>
                <a:ea typeface="HY견명조" panose="02030600000101010101" pitchFamily="18" charset="-127"/>
                <a:cs typeface="Arial" pitchFamily="34" charset="0"/>
              </a:rPr>
              <a:t>SATURN</a:t>
            </a:r>
            <a:r>
              <a:rPr lang="ko-KR" altLang="en-US" sz="4400" dirty="0">
                <a:solidFill>
                  <a:srgbClr val="FFFFFF"/>
                </a:solidFill>
                <a:latin typeface="Trebuchet MS" panose="020B0603020202020204" pitchFamily="34" charset="0"/>
                <a:ea typeface="HY견명조" panose="02030600000101010101" pitchFamily="18" charset="-127"/>
                <a:cs typeface="Arial" pitchFamily="34" charset="0"/>
              </a:rPr>
              <a:t> </a:t>
            </a:r>
            <a:r>
              <a:rPr lang="en-US" altLang="ko-KR" sz="4400" dirty="0">
                <a:solidFill>
                  <a:srgbClr val="FFFFFF"/>
                </a:solidFill>
                <a:latin typeface="Trebuchet MS" panose="020B0603020202020204" pitchFamily="34" charset="0"/>
                <a:ea typeface="HY견명조" panose="02030600000101010101" pitchFamily="18" charset="-127"/>
                <a:cs typeface="Arial" pitchFamily="34" charset="0"/>
              </a:rPr>
              <a:t>DOE Report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-312" y="2402091"/>
            <a:ext cx="9901641" cy="523875"/>
          </a:xfrm>
          <a:prstGeom prst="rect">
            <a:avLst/>
          </a:prstGeom>
          <a:solidFill>
            <a:srgbClr val="4BACC6">
              <a:lumMod val="25000"/>
            </a:srgbClr>
          </a:solidFill>
          <a:ln w="22225">
            <a:solidFill>
              <a:srgbClr val="B1B7C2">
                <a:lumMod val="20000"/>
                <a:lumOff val="80000"/>
              </a:srgbClr>
            </a:solidFill>
            <a:miter lim="800000"/>
            <a:headEnd/>
            <a:tailEnd/>
          </a:ln>
        </p:spPr>
        <p:txBody>
          <a:bodyPr lIns="91415" tIns="45707" rIns="91415" bIns="45707" anchor="ctr"/>
          <a:lstStyle/>
          <a:p>
            <a:pPr marL="0" marR="0" lvl="0" indent="0" algn="ctr" defTabSz="914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rebuchet MS" panose="020B0603020202020204" pitchFamily="34" charset="0"/>
                <a:ea typeface="HY견명조" panose="02030600000101010101" pitchFamily="18" charset="-127"/>
                <a:cs typeface="Arial" pitchFamily="34" charset="0"/>
              </a:rPr>
              <a:t>[DP Process]</a:t>
            </a: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rebuchet MS" panose="020B0603020202020204" pitchFamily="34" charset="0"/>
                <a:ea typeface="HY견명조" panose="02030600000101010101" pitchFamily="18" charset="-127"/>
                <a:cs typeface="Arial" pitchFamily="34" charset="0"/>
              </a:rPr>
              <a:t> </a:t>
            </a:r>
            <a:endParaRPr kumimoji="0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rebuchet MS" panose="020B0603020202020204" pitchFamily="34" charset="0"/>
              <a:ea typeface="HY견명조" panose="02030600000101010101" pitchFamily="18" charset="-127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91226" y="5373216"/>
            <a:ext cx="2729101" cy="707860"/>
          </a:xfrm>
          <a:prstGeom prst="rect">
            <a:avLst/>
          </a:prstGeom>
          <a:noFill/>
        </p:spPr>
        <p:txBody>
          <a:bodyPr wrap="square" lIns="91415" tIns="45707" rIns="91415" bIns="45707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000" b="1" dirty="0">
                <a:solidFill>
                  <a:srgbClr val="000000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2026.09.12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000" b="1" dirty="0">
                <a:solidFill>
                  <a:srgbClr val="000000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김용모</a:t>
            </a:r>
            <a:endParaRPr kumimoji="0" lang="en-US" altLang="ko-KR" sz="2000" b="1" dirty="0">
              <a:solidFill>
                <a:srgbClr val="000000"/>
              </a:solidFill>
              <a:latin typeface="Trebuchet MS" panose="020B0603020202020204" pitchFamily="34" charset="0"/>
              <a:ea typeface="HY견명조" panose="0203060000010101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57"/>
          <p:cNvSpPr txBox="1">
            <a:spLocks noChangeArrowheads="1"/>
          </p:cNvSpPr>
          <p:nvPr/>
        </p:nvSpPr>
        <p:spPr bwMode="auto">
          <a:xfrm>
            <a:off x="0" y="523875"/>
            <a:ext cx="9906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44000">
            <a:spAutoFit/>
          </a:bodyPr>
          <a:lstStyle/>
          <a:p>
            <a:pPr marL="266700" indent="-266700" eaLnBrk="0" latinLnBrk="0" hangingPunct="0">
              <a:spcBef>
                <a:spcPct val="50000"/>
              </a:spcBef>
              <a:buFont typeface="Wingdings" pitchFamily="2" charset="2"/>
              <a:buChar char="ü"/>
            </a:pPr>
            <a:r>
              <a:rPr kumimoji="0" lang="en-US" altLang="ko-KR" sz="1600" b="1">
                <a:latin typeface="Trebuchet MS" panose="020B0603020202020204" pitchFamily="34" charset="0"/>
                <a:ea typeface="HY견명조" panose="02030600000101010101" pitchFamily="18" charset="-127"/>
                <a:cs typeface="Tahoma" pitchFamily="34" charset="0"/>
              </a:rPr>
              <a:t>Purpose</a:t>
            </a:r>
            <a:endParaRPr kumimoji="0" lang="en-US" altLang="ko-KR" sz="1600" b="1" dirty="0">
              <a:solidFill>
                <a:srgbClr val="0000FF"/>
              </a:solidFill>
              <a:latin typeface="Trebuchet MS" panose="020B0603020202020204" pitchFamily="34" charset="0"/>
              <a:ea typeface="HY견명조" panose="02030600000101010101" pitchFamily="18" charset="-127"/>
              <a:cs typeface="Tahoma" pitchFamily="34" charset="0"/>
            </a:endParaRPr>
          </a:p>
        </p:txBody>
      </p:sp>
      <p:sp>
        <p:nvSpPr>
          <p:cNvPr id="4099" name="Text Box 259"/>
          <p:cNvSpPr txBox="1">
            <a:spLocks noChangeArrowheads="1"/>
          </p:cNvSpPr>
          <p:nvPr/>
        </p:nvSpPr>
        <p:spPr bwMode="auto">
          <a:xfrm>
            <a:off x="0" y="1268760"/>
            <a:ext cx="9906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44000">
            <a:spAutoFit/>
          </a:bodyPr>
          <a:lstStyle/>
          <a:p>
            <a:pPr marL="266700" indent="-266700" eaLnBrk="0" latinLnBrk="0" hangingPunct="0">
              <a:spcBef>
                <a:spcPct val="50000"/>
              </a:spcBef>
              <a:buFont typeface="Wingdings" pitchFamily="2" charset="2"/>
              <a:buChar char="ü"/>
            </a:pPr>
            <a:r>
              <a:rPr kumimoji="0" lang="en-US" altLang="ko-KR" sz="1600" b="1">
                <a:latin typeface="Trebuchet MS" panose="020B0603020202020204" pitchFamily="34" charset="0"/>
                <a:ea typeface="HY견명조" panose="02030600000101010101" pitchFamily="18" charset="-127"/>
                <a:cs typeface="Tahoma" pitchFamily="34" charset="0"/>
              </a:rPr>
              <a:t>Results</a:t>
            </a:r>
            <a:endParaRPr kumimoji="0" lang="en-US" altLang="ko-KR" sz="1600" b="1" dirty="0">
              <a:latin typeface="Trebuchet MS" panose="020B0603020202020204" pitchFamily="34" charset="0"/>
              <a:ea typeface="HY견명조" panose="02030600000101010101" pitchFamily="18" charset="-127"/>
              <a:cs typeface="Tahoma" pitchFamily="34" charset="0"/>
            </a:endParaRPr>
          </a:p>
        </p:txBody>
      </p:sp>
      <p:sp>
        <p:nvSpPr>
          <p:cNvPr id="4103" name="Text Box 267"/>
          <p:cNvSpPr txBox="1">
            <a:spLocks noChangeArrowheads="1"/>
          </p:cNvSpPr>
          <p:nvPr/>
        </p:nvSpPr>
        <p:spPr bwMode="auto">
          <a:xfrm>
            <a:off x="1280592" y="615740"/>
            <a:ext cx="8496944" cy="39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ko-KR" sz="1400" dirty="0"/>
              <a:t>SATURN </a:t>
            </a:r>
            <a:r>
              <a:rPr lang="ko-KR" altLang="en-US" sz="1400" dirty="0"/>
              <a:t>제품의 </a:t>
            </a:r>
            <a:r>
              <a:rPr lang="ko-KR" altLang="en-US" sz="1400" dirty="0" err="1"/>
              <a:t>양산성</a:t>
            </a:r>
            <a:r>
              <a:rPr lang="ko-KR" altLang="en-US" sz="1400" dirty="0"/>
              <a:t> 검증을 위해 </a:t>
            </a:r>
            <a:r>
              <a:rPr lang="en-US" altLang="ko-KR" sz="1400" dirty="0"/>
              <a:t>DP </a:t>
            </a:r>
            <a:r>
              <a:rPr lang="ko-KR" altLang="en-US" sz="1400" dirty="0"/>
              <a:t>공정</a:t>
            </a:r>
            <a:r>
              <a:rPr lang="en-US" altLang="ko-KR" sz="1400" dirty="0"/>
              <a:t>(Lamination, Back Grind, Saw)</a:t>
            </a:r>
            <a:r>
              <a:rPr lang="ko-KR" altLang="en-US" sz="1400" dirty="0"/>
              <a:t>의 표준 작업 조건 및 품질 특성</a:t>
            </a:r>
            <a:r>
              <a:rPr lang="en-US" altLang="ko-KR" sz="1400" dirty="0"/>
              <a:t>(CTQ)</a:t>
            </a:r>
            <a:r>
              <a:rPr lang="ko-KR" altLang="en-US" sz="1400" dirty="0"/>
              <a:t>의 공정 능력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Cpk</a:t>
            </a:r>
            <a:r>
              <a:rPr lang="en-US" altLang="ko-KR" sz="1400" dirty="0"/>
              <a:t>)</a:t>
            </a:r>
            <a:r>
              <a:rPr lang="ko-KR" altLang="en-US" sz="1400" dirty="0"/>
              <a:t>을 최종 검증함</a:t>
            </a:r>
            <a:endParaRPr lang="en-US" altLang="ko-KR" sz="1400" dirty="0">
              <a:solidFill>
                <a:srgbClr val="0000FF"/>
              </a:solidFill>
              <a:latin typeface="Trebuchet MS" panose="020B0603020202020204" pitchFamily="34" charset="0"/>
              <a:ea typeface="HY견명조" panose="02030600000101010101" pitchFamily="18" charset="-127"/>
            </a:endParaRPr>
          </a:p>
        </p:txBody>
      </p:sp>
      <p:sp>
        <p:nvSpPr>
          <p:cNvPr id="11" name="Text Box 259"/>
          <p:cNvSpPr txBox="1">
            <a:spLocks noChangeArrowheads="1"/>
          </p:cNvSpPr>
          <p:nvPr/>
        </p:nvSpPr>
        <p:spPr bwMode="auto">
          <a:xfrm>
            <a:off x="0" y="4797152"/>
            <a:ext cx="9906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44000">
            <a:spAutoFit/>
          </a:bodyPr>
          <a:lstStyle/>
          <a:p>
            <a:pPr marL="266700" indent="-266700" eaLnBrk="0" latinLnBrk="0" hangingPunct="0">
              <a:spcBef>
                <a:spcPct val="50000"/>
              </a:spcBef>
              <a:buFont typeface="Wingdings" pitchFamily="2" charset="2"/>
              <a:buChar char="ü"/>
            </a:pPr>
            <a:r>
              <a:rPr kumimoji="0" lang="en-US" altLang="ko-KR" sz="1600" b="1" dirty="0">
                <a:latin typeface="Trebuchet MS" panose="020B0603020202020204" pitchFamily="34" charset="0"/>
                <a:ea typeface="HY견명조" panose="02030600000101010101" pitchFamily="18" charset="-127"/>
                <a:cs typeface="Tahoma" pitchFamily="34" charset="0"/>
              </a:rPr>
              <a:t>Conclusion</a:t>
            </a:r>
          </a:p>
        </p:txBody>
      </p:sp>
      <p:sp>
        <p:nvSpPr>
          <p:cNvPr id="12" name="Text Box 267"/>
          <p:cNvSpPr txBox="1">
            <a:spLocks noChangeArrowheads="1"/>
          </p:cNvSpPr>
          <p:nvPr/>
        </p:nvSpPr>
        <p:spPr bwMode="auto">
          <a:xfrm>
            <a:off x="200472" y="5200542"/>
            <a:ext cx="9705528" cy="39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 eaLnBrk="0" latinLnBrk="0" hangingPunct="0">
              <a:lnSpc>
                <a:spcPct val="70000"/>
              </a:lnSpc>
              <a:spcBef>
                <a:spcPct val="50000"/>
              </a:spcBef>
            </a:pPr>
            <a:r>
              <a:rPr kumimoji="0" lang="en-US" altLang="ko-KR" sz="1400" b="1" dirty="0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  <a:cs typeface="Tahoma" pitchFamily="34" charset="0"/>
              </a:rPr>
              <a:t>     </a:t>
            </a:r>
            <a:r>
              <a:rPr lang="en-US" altLang="ko-KR" sz="1400" dirty="0"/>
              <a:t>2</a:t>
            </a:r>
            <a:r>
              <a:rPr lang="ko-KR" altLang="en-US" sz="1400" dirty="0"/>
              <a:t>차 </a:t>
            </a:r>
            <a:r>
              <a:rPr lang="en-US" altLang="ko-KR" sz="1400" dirty="0"/>
              <a:t>DOE </a:t>
            </a:r>
            <a:r>
              <a:rPr lang="ko-KR" altLang="en-US" sz="1400" dirty="0"/>
              <a:t>치핑 불량에 대한 원인 분석 및 개선 대책 수립을 완료하여 </a:t>
            </a:r>
            <a:r>
              <a:rPr lang="en-US" altLang="ko-KR" sz="1400" dirty="0"/>
              <a:t>3</a:t>
            </a:r>
            <a:r>
              <a:rPr lang="ko-KR" altLang="en-US" sz="1400" dirty="0"/>
              <a:t>차 </a:t>
            </a:r>
            <a:r>
              <a:rPr lang="en-US" altLang="ko-KR" sz="1400" dirty="0"/>
              <a:t>DOE</a:t>
            </a:r>
            <a:r>
              <a:rPr lang="ko-KR" altLang="en-US" sz="1400" dirty="0"/>
              <a:t>에서 안정적인 품질을 확보함</a:t>
            </a:r>
            <a:r>
              <a:rPr lang="en-US" altLang="ko-KR" sz="1400" dirty="0"/>
              <a:t>. DP </a:t>
            </a:r>
            <a:r>
              <a:rPr lang="ko-KR" altLang="en-US" sz="1400" dirty="0"/>
              <a:t>전 단위 공정의 </a:t>
            </a:r>
            <a:r>
              <a:rPr lang="en-US" altLang="ko-KR" sz="1400" dirty="0"/>
              <a:t>CTQ </a:t>
            </a:r>
            <a:r>
              <a:rPr lang="ko-KR" altLang="en-US" sz="1400" dirty="0"/>
              <a:t>규격을 만족하였으므로 양산화 검증</a:t>
            </a:r>
            <a:r>
              <a:rPr lang="en-US" altLang="ko-KR" sz="1400" dirty="0"/>
              <a:t>(Mass Qual) </a:t>
            </a:r>
            <a:r>
              <a:rPr lang="ko-KR" altLang="en-US" sz="1400" dirty="0"/>
              <a:t>진행을 승인</a:t>
            </a:r>
            <a:endParaRPr kumimoji="0" lang="en-US" altLang="ko-KR" sz="1400" dirty="0">
              <a:latin typeface="Trebuchet MS" panose="020B0603020202020204" pitchFamily="34" charset="0"/>
              <a:ea typeface="HY견명조" panose="02030600000101010101" pitchFamily="18" charset="-127"/>
              <a:cs typeface="Tahoma" pitchFamily="34" charset="0"/>
            </a:endParaRPr>
          </a:p>
        </p:txBody>
      </p:sp>
      <p:graphicFrame>
        <p:nvGraphicFramePr>
          <p:cNvPr id="10" name="Group 3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750895"/>
              </p:ext>
            </p:extLst>
          </p:nvPr>
        </p:nvGraphicFramePr>
        <p:xfrm>
          <a:off x="273050" y="1628801"/>
          <a:ext cx="9347237" cy="3041230"/>
        </p:xfrm>
        <a:graphic>
          <a:graphicData uri="http://schemas.openxmlformats.org/drawingml/2006/table">
            <a:tbl>
              <a:tblPr/>
              <a:tblGrid>
                <a:gridCol w="1236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6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5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8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17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Step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Machine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Raw Material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6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각 단위 공정에서 선정한 </a:t>
                      </a:r>
                      <a:r>
                        <a:rPr kumimoji="1" lang="en-US" altLang="ko-KR" sz="86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BOM)</a:t>
                      </a:r>
                      <a:endParaRPr kumimoji="1" lang="en-US" altLang="ko-KR" sz="86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Test Item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6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단위 공정의 주요 평가항목</a:t>
                      </a:r>
                      <a:r>
                        <a:rPr kumimoji="1" lang="en-US" altLang="ko-KR" sz="86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/CTQ)</a:t>
                      </a:r>
                      <a:endParaRPr kumimoji="1" lang="en-US" altLang="ko-KR" sz="86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Result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9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SMT</a:t>
                      </a:r>
                      <a:endParaRPr kumimoji="1" lang="en-US" altLang="ko-KR" sz="86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anose="020B0604030504040204" pitchFamily="34" charset="0"/>
                        </a:rPr>
                        <a:t>HYBRID5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60" kern="1200" baseline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anose="020B0604030504040204" pitchFamily="34" charset="0"/>
                        </a:rPr>
                        <a:t>WS693CPS (</a:t>
                      </a:r>
                      <a:r>
                        <a:rPr lang="en-US" altLang="ko-KR" sz="860" kern="1200" baseline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anose="020B0604030504040204" pitchFamily="34" charset="0"/>
                        </a:rPr>
                        <a:t>Alphametal</a:t>
                      </a:r>
                      <a:r>
                        <a:rPr lang="en-US" altLang="ko-KR" sz="860" kern="1200" baseline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anose="020B0604030504040204" pitchFamily="34" charset="0"/>
                        </a:rPr>
                        <a:t>)</a:t>
                      </a:r>
                      <a:endParaRPr lang="de-DE" altLang="ko-KR" sz="860" kern="1200" baseline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e-DE" altLang="ko-KR" sz="860" kern="1200" baseline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anose="020B0604030504040204" pitchFamily="34" charset="0"/>
                        </a:rPr>
                        <a:t>0603 Resistor dummy </a:t>
                      </a:r>
                      <a:r>
                        <a:rPr lang="pt-BR" altLang="ko-KR" sz="860" kern="1200" baseline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anose="020B0604030504040204" pitchFamily="34" charset="0"/>
                        </a:rPr>
                        <a:t>(</a:t>
                      </a:r>
                      <a:r>
                        <a:rPr lang="en-US" altLang="ko-KR" sz="860" kern="1200" baseline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anose="020B0604030504040204" pitchFamily="34" charset="0"/>
                        </a:rPr>
                        <a:t>MURATA)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860" kern="1200" baseline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anose="020B0604030504040204" pitchFamily="34" charset="0"/>
                        </a:rPr>
                        <a:t>0402 Capacitor dummy </a:t>
                      </a:r>
                      <a:r>
                        <a:rPr lang="pt-BR" altLang="ko-KR" sz="860" kern="1200" baseline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anose="020B0604030504040204" pitchFamily="34" charset="0"/>
                        </a:rPr>
                        <a:t>(</a:t>
                      </a:r>
                      <a:r>
                        <a:rPr lang="en-US" altLang="ko-KR" sz="860" kern="1200" baseline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anose="020B0604030504040204" pitchFamily="34" charset="0"/>
                        </a:rPr>
                        <a:t>MURATA)</a:t>
                      </a:r>
                      <a:endParaRPr lang="pt-BR" altLang="ko-KR" sz="860" kern="1200" baseline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anose="020B06040305040402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VISUAL, Capacitor Shear Test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PASS / Fail</a:t>
                      </a:r>
                      <a:endParaRPr kumimoji="1" lang="en-US" altLang="ko-KR" sz="86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Lamination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RU-3520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eaLnBrk="0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</a:pPr>
                      <a:r>
                        <a:rPr lang="en-US" altLang="ko-KR" sz="900" dirty="0"/>
                        <a:t>BG Tape: E-6142S (LINTEC)</a:t>
                      </a:r>
                      <a:endParaRPr kumimoji="0" lang="en-US" altLang="ko-KR" sz="900" dirty="0"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VISUAL, TAPE VOID</a:t>
                      </a:r>
                      <a:endParaRPr kumimoji="0" lang="en-US" altLang="ko-KR" sz="900" dirty="0"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6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PASS / Fail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9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6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Back Grind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DGP8761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Rough/Fine Wheel, DAF: FH-7221S(T)</a:t>
                      </a:r>
                      <a:endParaRPr kumimoji="1" lang="en-US" altLang="ko-KR" sz="86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WAFER THICKNESS, ROUGHNESS, TTV</a:t>
                      </a:r>
                      <a:endParaRPr kumimoji="0" lang="en-US" altLang="ko-KR" sz="900" dirty="0"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6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PASS / Fail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601038"/>
                  </a:ext>
                </a:extLst>
              </a:tr>
              <a:tr h="310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Wafer Saw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DFD6361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/>
                        <a:t>Blade: ZH05-SD3500-N1-50-CE / FD</a:t>
                      </a:r>
                      <a:endParaRPr kumimoji="1" lang="en-US" altLang="ko-KR" sz="86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KERF WIDTH, CHIPPING, CRACK</a:t>
                      </a:r>
                      <a:endParaRPr kumimoji="0" lang="en-US" altLang="ko-KR" sz="900" dirty="0"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6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PASS / Fail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DA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6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6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6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6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980508"/>
                  </a:ext>
                </a:extLst>
              </a:tr>
              <a:tr h="310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WB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6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6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6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6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05326"/>
                  </a:ext>
                </a:extLst>
              </a:tr>
              <a:tr h="310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MD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6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33231" marR="33231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6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6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6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6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Tahoma" pitchFamily="34" charset="0"/>
                        </a:rPr>
                        <a:t>BE</a:t>
                      </a:r>
                      <a:endParaRPr kumimoji="1" lang="en-US" altLang="ko-KR" sz="86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6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33231" marR="33231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6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6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6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701421"/>
                  </a:ext>
                </a:extLst>
              </a:tr>
            </a:tbl>
          </a:graphicData>
        </a:graphic>
      </p:graphicFrame>
      <p:sp>
        <p:nvSpPr>
          <p:cNvPr id="13" name="직사각형 4"/>
          <p:cNvSpPr>
            <a:spLocks noChangeArrowheads="1"/>
          </p:cNvSpPr>
          <p:nvPr/>
        </p:nvSpPr>
        <p:spPr bwMode="auto">
          <a:xfrm>
            <a:off x="10410" y="14304"/>
            <a:ext cx="7507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defTabSz="457200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0000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Arial" pitchFamily="34" charset="0"/>
              </a:rPr>
              <a:t>SATURN Project _ DOE Report</a:t>
            </a:r>
          </a:p>
        </p:txBody>
      </p:sp>
      <p:sp>
        <p:nvSpPr>
          <p:cNvPr id="2" name="타원 1"/>
          <p:cNvSpPr/>
          <p:nvPr/>
        </p:nvSpPr>
        <p:spPr>
          <a:xfrm>
            <a:off x="8900556" y="2119746"/>
            <a:ext cx="368135" cy="195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" name="직선 연결선 13"/>
          <p:cNvCxnSpPr>
            <a:stCxn id="15" idx="3"/>
            <a:endCxn id="17" idx="1"/>
          </p:cNvCxnSpPr>
          <p:nvPr/>
        </p:nvCxnSpPr>
        <p:spPr bwMode="auto">
          <a:xfrm>
            <a:off x="7514765" y="281479"/>
            <a:ext cx="1342553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5" name="사각형: 둥근 모서리 47">
            <a:extLst>
              <a:ext uri="{FF2B5EF4-FFF2-40B4-BE49-F238E27FC236}">
                <a16:creationId xmlns:a16="http://schemas.microsoft.com/office/drawing/2014/main" id="{0FE14216-C84A-4176-97B1-0AD5DB922987}"/>
              </a:ext>
            </a:extLst>
          </p:cNvPr>
          <p:cNvSpPr/>
          <p:nvPr/>
        </p:nvSpPr>
        <p:spPr>
          <a:xfrm>
            <a:off x="6628073" y="131433"/>
            <a:ext cx="886692" cy="300091"/>
          </a:xfrm>
          <a:prstGeom prst="roundRect">
            <a:avLst/>
          </a:prstGeom>
          <a:solidFill>
            <a:srgbClr val="F2F2F2"/>
          </a:solidFill>
          <a:ln w="12700" cap="flat" cmpd="sng" algn="ctr">
            <a:solidFill>
              <a:srgbClr val="225AA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altLang="ko-KR" sz="900" b="1" i="0" u="none" strike="noStrike" kern="0" cap="none" spc="0" normalizeH="0" baseline="30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st</a:t>
            </a:r>
            <a:r>
              <a:rPr kumimoji="0" lang="en-US" altLang="ko-KR" sz="900" b="1" i="0" u="none" strike="noStrike" kern="0" cap="none" spc="0" normalizeH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DOE(Done)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사각형: 둥근 모서리 47">
            <a:extLst>
              <a:ext uri="{FF2B5EF4-FFF2-40B4-BE49-F238E27FC236}">
                <a16:creationId xmlns:a16="http://schemas.microsoft.com/office/drawing/2014/main" id="{0FE14216-C84A-4176-97B1-0AD5DB922987}"/>
              </a:ext>
            </a:extLst>
          </p:cNvPr>
          <p:cNvSpPr/>
          <p:nvPr/>
        </p:nvSpPr>
        <p:spPr>
          <a:xfrm>
            <a:off x="7708192" y="131433"/>
            <a:ext cx="905461" cy="300091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225AA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kern="0">
                <a:solidFill>
                  <a:srgbClr val="000000"/>
                </a:solidFill>
                <a:latin typeface="Arial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altLang="ko-KR" sz="900" b="1" kern="0" baseline="30000">
                <a:solidFill>
                  <a:srgbClr val="000000"/>
                </a:solidFill>
                <a:latin typeface="Arial"/>
                <a:ea typeface="+mn-ea"/>
                <a:cs typeface="Arial" panose="020B0604020202020204" pitchFamily="34" charset="0"/>
              </a:rPr>
              <a:t>nd</a:t>
            </a:r>
            <a:r>
              <a:rPr kumimoji="0" lang="en-US" altLang="ko-KR" sz="900" b="1" kern="0">
                <a:solidFill>
                  <a:srgbClr val="000000"/>
                </a:solidFill>
                <a:latin typeface="Arial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ko-KR" sz="900" b="1" kern="0">
                <a:solidFill>
                  <a:srgbClr val="0000FF"/>
                </a:solidFill>
                <a:latin typeface="Arial"/>
                <a:cs typeface="Arial" panose="020B0604020202020204" pitchFamily="34" charset="0"/>
              </a:rPr>
              <a:t>DOE(Done)</a:t>
            </a:r>
            <a:endParaRPr kumimoji="0" lang="ko-KR" altLang="en-US" sz="900" b="1" kern="0" dirty="0">
              <a:solidFill>
                <a:srgbClr val="0000FF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17" name="사각형: 둥근 모서리 47">
            <a:extLst>
              <a:ext uri="{FF2B5EF4-FFF2-40B4-BE49-F238E27FC236}">
                <a16:creationId xmlns:a16="http://schemas.microsoft.com/office/drawing/2014/main" id="{0FE14216-C84A-4176-97B1-0AD5DB922987}"/>
              </a:ext>
            </a:extLst>
          </p:cNvPr>
          <p:cNvSpPr/>
          <p:nvPr/>
        </p:nvSpPr>
        <p:spPr>
          <a:xfrm>
            <a:off x="8857318" y="131433"/>
            <a:ext cx="920218" cy="300091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225AA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b="1" kern="0">
                <a:solidFill>
                  <a:srgbClr val="0000FF"/>
                </a:solidFill>
                <a:latin typeface="Arial"/>
                <a:cs typeface="Arial" panose="020B0604020202020204" pitchFamily="34" charset="0"/>
              </a:rPr>
              <a:t>3</a:t>
            </a:r>
            <a:r>
              <a:rPr kumimoji="0" lang="en-US" altLang="ko-KR" sz="900" b="1" kern="0" baseline="30000">
                <a:solidFill>
                  <a:srgbClr val="0000FF"/>
                </a:solidFill>
                <a:latin typeface="Arial"/>
                <a:cs typeface="Arial" panose="020B0604020202020204" pitchFamily="34" charset="0"/>
              </a:rPr>
              <a:t>rd</a:t>
            </a:r>
            <a:r>
              <a:rPr kumimoji="0" lang="en-US" altLang="ko-KR" sz="900" b="1" kern="0">
                <a:solidFill>
                  <a:srgbClr val="0000FF"/>
                </a:solidFill>
                <a:latin typeface="Arial"/>
                <a:cs typeface="Arial" panose="020B0604020202020204" pitchFamily="34" charset="0"/>
              </a:rPr>
              <a:t> DOE(Done)</a:t>
            </a:r>
            <a:endParaRPr kumimoji="0" lang="ko-KR" altLang="en-US" sz="900" b="1" kern="0">
              <a:solidFill>
                <a:srgbClr val="0000FF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24640BB-69D4-E95C-E2EF-500D9E8905E3}"/>
              </a:ext>
            </a:extLst>
          </p:cNvPr>
          <p:cNvSpPr/>
          <p:nvPr/>
        </p:nvSpPr>
        <p:spPr>
          <a:xfrm>
            <a:off x="8900988" y="2488566"/>
            <a:ext cx="368135" cy="195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6E4DAE8-2B8D-75B8-6044-EFFC0CDDC894}"/>
              </a:ext>
            </a:extLst>
          </p:cNvPr>
          <p:cNvSpPr/>
          <p:nvPr/>
        </p:nvSpPr>
        <p:spPr>
          <a:xfrm>
            <a:off x="8900555" y="2785895"/>
            <a:ext cx="368135" cy="195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01E0466-1376-A6DF-915B-ED40012533A8}"/>
              </a:ext>
            </a:extLst>
          </p:cNvPr>
          <p:cNvSpPr/>
          <p:nvPr/>
        </p:nvSpPr>
        <p:spPr>
          <a:xfrm>
            <a:off x="8900554" y="3175454"/>
            <a:ext cx="368135" cy="195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715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99"/>
          <p:cNvSpPr txBox="1">
            <a:spLocks noChangeArrowheads="1"/>
          </p:cNvSpPr>
          <p:nvPr/>
        </p:nvSpPr>
        <p:spPr bwMode="auto">
          <a:xfrm>
            <a:off x="0" y="620713"/>
            <a:ext cx="9906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44000">
            <a:spAutoFit/>
          </a:bodyPr>
          <a:lstStyle/>
          <a:p>
            <a:pPr marL="266700" indent="-266700" eaLnBrk="0" latinLnBrk="0" hangingPunct="0">
              <a:spcBef>
                <a:spcPct val="50000"/>
              </a:spcBef>
              <a:buFont typeface="Wingdings" pitchFamily="2" charset="2"/>
              <a:buChar char="ü"/>
            </a:pPr>
            <a:r>
              <a:rPr kumimoji="0" lang="en-US" altLang="ko-KR" sz="1600" b="1">
                <a:latin typeface="Trebuchet MS" panose="020B0603020202020204" pitchFamily="34" charset="0"/>
                <a:ea typeface="HY견명조" panose="02030600000101010101" pitchFamily="18" charset="-127"/>
                <a:cs typeface="Tahoma" pitchFamily="34" charset="0"/>
              </a:rPr>
              <a:t>Package / Wafer Information</a:t>
            </a:r>
          </a:p>
        </p:txBody>
      </p:sp>
      <p:sp>
        <p:nvSpPr>
          <p:cNvPr id="9" name="Text Box 99"/>
          <p:cNvSpPr txBox="1">
            <a:spLocks noChangeArrowheads="1"/>
          </p:cNvSpPr>
          <p:nvPr/>
        </p:nvSpPr>
        <p:spPr bwMode="auto">
          <a:xfrm>
            <a:off x="0" y="1772816"/>
            <a:ext cx="9906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44000">
            <a:spAutoFit/>
          </a:bodyPr>
          <a:lstStyle/>
          <a:p>
            <a:pPr marL="266700" indent="-266700" eaLnBrk="0" latinLnBrk="0" hangingPunct="0">
              <a:spcBef>
                <a:spcPct val="50000"/>
              </a:spcBef>
              <a:buFont typeface="Wingdings" pitchFamily="2" charset="2"/>
              <a:buChar char="ü"/>
            </a:pPr>
            <a:r>
              <a:rPr kumimoji="0" lang="en-US" altLang="ko-KR" sz="1600" b="1">
                <a:latin typeface="Trebuchet MS" panose="020B0603020202020204" pitchFamily="34" charset="0"/>
                <a:ea typeface="HY견명조" panose="02030600000101010101" pitchFamily="18" charset="-127"/>
                <a:cs typeface="Tahoma" pitchFamily="34" charset="0"/>
              </a:rPr>
              <a:t>PCB Description</a:t>
            </a:r>
            <a:endParaRPr kumimoji="0" lang="en-US" altLang="ko-KR" sz="1600" b="1" dirty="0">
              <a:latin typeface="Trebuchet MS" panose="020B0603020202020204" pitchFamily="34" charset="0"/>
              <a:ea typeface="HY견명조" panose="02030600000101010101" pitchFamily="18" charset="-127"/>
              <a:cs typeface="Tahoma" pitchFamily="34" charset="0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705896"/>
              </p:ext>
            </p:extLst>
          </p:nvPr>
        </p:nvGraphicFramePr>
        <p:xfrm>
          <a:off x="347306" y="983987"/>
          <a:ext cx="7902357" cy="515005"/>
        </p:xfrm>
        <a:graphic>
          <a:graphicData uri="http://schemas.openxmlformats.org/drawingml/2006/table">
            <a:tbl>
              <a:tblPr/>
              <a:tblGrid>
                <a:gridCol w="1084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43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221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559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PKG Type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Project </a:t>
                      </a:r>
                      <a:r>
                        <a:rPr lang="en-US" sz="9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Code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Wafer Size(inch)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Die Size(mm)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Target Thickness(um)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Scribe Lane(㎛)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DAF Thickness(um)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0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/>
                        <a:t>BGA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/>
                        <a:t>SATURN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12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9.916 x 2.080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250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80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20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55426"/>
              </p:ext>
            </p:extLst>
          </p:nvPr>
        </p:nvGraphicFramePr>
        <p:xfrm>
          <a:off x="275334" y="2060849"/>
          <a:ext cx="9358188" cy="609774"/>
        </p:xfrm>
        <a:graphic>
          <a:graphicData uri="http://schemas.openxmlformats.org/drawingml/2006/table">
            <a:tbl>
              <a:tblPr/>
              <a:tblGrid>
                <a:gridCol w="2339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5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428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PCB / Substrate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Spec. </a:t>
                      </a:r>
                      <a:r>
                        <a:rPr lang="en-US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No.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Part No.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Core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8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ADS*******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APF******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*****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*****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t="48730"/>
          <a:stretch/>
        </p:blipFill>
        <p:spPr>
          <a:xfrm>
            <a:off x="275298" y="4149080"/>
            <a:ext cx="6117827" cy="220161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06" y="2990959"/>
            <a:ext cx="6045819" cy="1343401"/>
          </a:xfrm>
          <a:prstGeom prst="rect">
            <a:avLst/>
          </a:prstGeom>
        </p:spPr>
      </p:pic>
      <p:sp>
        <p:nvSpPr>
          <p:cNvPr id="13" name="직사각형 4"/>
          <p:cNvSpPr>
            <a:spLocks noChangeArrowheads="1"/>
          </p:cNvSpPr>
          <p:nvPr/>
        </p:nvSpPr>
        <p:spPr bwMode="auto">
          <a:xfrm>
            <a:off x="10410" y="14304"/>
            <a:ext cx="7507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defTabSz="457200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0000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Arial" pitchFamily="34" charset="0"/>
              </a:rPr>
              <a:t>SATURN Project _ DOE Report</a:t>
            </a:r>
          </a:p>
        </p:txBody>
      </p:sp>
    </p:spTree>
    <p:extLst>
      <p:ext uri="{BB962C8B-B14F-4D97-AF65-F5344CB8AC3E}">
        <p14:creationId xmlns:p14="http://schemas.microsoft.com/office/powerpoint/2010/main" val="2619822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Arrow Connector 2">
            <a:extLst>
              <a:ext uri="{FF2B5EF4-FFF2-40B4-BE49-F238E27FC236}">
                <a16:creationId xmlns:a16="http://schemas.microsoft.com/office/drawing/2014/main" id="{4352299D-CEE7-4318-ACF2-33CB1AA0052F}"/>
              </a:ext>
            </a:extLst>
          </p:cNvPr>
          <p:cNvCxnSpPr>
            <a:cxnSpLocks/>
            <a:stCxn id="129" idx="2"/>
            <a:endCxn id="115" idx="0"/>
          </p:cNvCxnSpPr>
          <p:nvPr/>
        </p:nvCxnSpPr>
        <p:spPr>
          <a:xfrm>
            <a:off x="3020977" y="1804776"/>
            <a:ext cx="0" cy="155221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39">
            <a:extLst>
              <a:ext uri="{FF2B5EF4-FFF2-40B4-BE49-F238E27FC236}">
                <a16:creationId xmlns:a16="http://schemas.microsoft.com/office/drawing/2014/main" id="{01C93576-3583-4764-8AB5-ACCF68BB21E2}"/>
              </a:ext>
            </a:extLst>
          </p:cNvPr>
          <p:cNvCxnSpPr>
            <a:cxnSpLocks/>
            <a:stCxn id="118" idx="2"/>
            <a:endCxn id="135" idx="0"/>
          </p:cNvCxnSpPr>
          <p:nvPr/>
        </p:nvCxnSpPr>
        <p:spPr>
          <a:xfrm>
            <a:off x="5469103" y="1804776"/>
            <a:ext cx="0" cy="320840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48">
            <a:extLst>
              <a:ext uri="{FF2B5EF4-FFF2-40B4-BE49-F238E27FC236}">
                <a16:creationId xmlns:a16="http://schemas.microsoft.com/office/drawing/2014/main" id="{DC9AF97F-D264-4079-8390-6829FF024F1D}"/>
              </a:ext>
            </a:extLst>
          </p:cNvPr>
          <p:cNvCxnSpPr>
            <a:cxnSpLocks/>
            <a:stCxn id="124" idx="2"/>
            <a:endCxn id="131" idx="0"/>
          </p:cNvCxnSpPr>
          <p:nvPr/>
        </p:nvCxnSpPr>
        <p:spPr>
          <a:xfrm>
            <a:off x="7850654" y="1804776"/>
            <a:ext cx="17641" cy="375250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6">
            <a:extLst>
              <a:ext uri="{FF2B5EF4-FFF2-40B4-BE49-F238E27FC236}">
                <a16:creationId xmlns:a16="http://schemas.microsoft.com/office/drawing/2014/main" id="{89E9775F-8F7F-4B2C-BEB2-D50F0A5AB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001" y="3356992"/>
            <a:ext cx="1583952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Saw</a:t>
            </a:r>
          </a:p>
        </p:txBody>
      </p:sp>
      <p:sp>
        <p:nvSpPr>
          <p:cNvPr id="116" name="Rectangle 17">
            <a:extLst>
              <a:ext uri="{FF2B5EF4-FFF2-40B4-BE49-F238E27FC236}">
                <a16:creationId xmlns:a16="http://schemas.microsoft.com/office/drawing/2014/main" id="{2D667069-0BED-44DF-80B1-450787304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00" y="4405152"/>
            <a:ext cx="1583952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r>
              <a:rPr lang="en-US" altLang="ko-KR" sz="1400" b="1" baseline="30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nd</a:t>
            </a:r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Inspection</a:t>
            </a:r>
          </a:p>
        </p:txBody>
      </p:sp>
      <p:sp>
        <p:nvSpPr>
          <p:cNvPr id="117" name="Rectangle 19">
            <a:extLst>
              <a:ext uri="{FF2B5EF4-FFF2-40B4-BE49-F238E27FC236}">
                <a16:creationId xmlns:a16="http://schemas.microsoft.com/office/drawing/2014/main" id="{D1B9DD05-5ADA-4A13-9CEB-AF5DC90C7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8654" y="2520740"/>
            <a:ext cx="1584000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Post Cure</a:t>
            </a:r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9A09E2D3-00D3-48CB-AEFF-87BB2F6FF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7103" y="1340768"/>
            <a:ext cx="1584000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UV Exposure</a:t>
            </a:r>
          </a:p>
        </p:txBody>
      </p:sp>
      <p:sp>
        <p:nvSpPr>
          <p:cNvPr id="119" name="Rectangle 31">
            <a:extLst>
              <a:ext uri="{FF2B5EF4-FFF2-40B4-BE49-F238E27FC236}">
                <a16:creationId xmlns:a16="http://schemas.microsoft.com/office/drawing/2014/main" id="{D9B1AB4F-BD33-48B4-9E21-21806F121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7103" y="2028888"/>
            <a:ext cx="1584000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Die Attach</a:t>
            </a:r>
          </a:p>
        </p:txBody>
      </p:sp>
      <p:sp>
        <p:nvSpPr>
          <p:cNvPr id="123" name="Rectangle 19">
            <a:extLst>
              <a:ext uri="{FF2B5EF4-FFF2-40B4-BE49-F238E27FC236}">
                <a16:creationId xmlns:a16="http://schemas.microsoft.com/office/drawing/2014/main" id="{07210684-7F55-4914-B091-7B47E9F4A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8654" y="1930754"/>
            <a:ext cx="1584000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Mold</a:t>
            </a:r>
          </a:p>
        </p:txBody>
      </p:sp>
      <p:sp>
        <p:nvSpPr>
          <p:cNvPr id="124" name="Rectangle 15">
            <a:extLst>
              <a:ext uri="{FF2B5EF4-FFF2-40B4-BE49-F238E27FC236}">
                <a16:creationId xmlns:a16="http://schemas.microsoft.com/office/drawing/2014/main" id="{F1DE4A0B-6742-4DA1-A257-DF33F2631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8654" y="1340768"/>
            <a:ext cx="1584000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Plasma</a:t>
            </a:r>
          </a:p>
        </p:txBody>
      </p:sp>
      <p:cxnSp>
        <p:nvCxnSpPr>
          <p:cNvPr id="125" name="꺾인 연결선 51">
            <a:extLst>
              <a:ext uri="{FF2B5EF4-FFF2-40B4-BE49-F238E27FC236}">
                <a16:creationId xmlns:a16="http://schemas.microsoft.com/office/drawing/2014/main" id="{38AEFD5A-1397-4538-B2A7-45FCF85F47ED}"/>
              </a:ext>
            </a:extLst>
          </p:cNvPr>
          <p:cNvCxnSpPr>
            <a:endCxn id="124" idx="1"/>
          </p:cNvCxnSpPr>
          <p:nvPr/>
        </p:nvCxnSpPr>
        <p:spPr bwMode="auto">
          <a:xfrm rot="5400000" flipH="1" flipV="1">
            <a:off x="5308287" y="2786600"/>
            <a:ext cx="2964195" cy="536540"/>
          </a:xfrm>
          <a:prstGeom prst="bentConnector2">
            <a:avLst/>
          </a:prstGeom>
          <a:ln w="6350">
            <a:noFill/>
            <a:headEnd type="none" w="med" len="med"/>
            <a:tailEnd type="stealth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6" name="꺾인 연결선 52">
            <a:extLst>
              <a:ext uri="{FF2B5EF4-FFF2-40B4-BE49-F238E27FC236}">
                <a16:creationId xmlns:a16="http://schemas.microsoft.com/office/drawing/2014/main" id="{119C0B92-1579-41B2-A9F2-E29BF16843D0}"/>
              </a:ext>
            </a:extLst>
          </p:cNvPr>
          <p:cNvCxnSpPr>
            <a:stCxn id="116" idx="3"/>
            <a:endCxn id="118" idx="1"/>
          </p:cNvCxnSpPr>
          <p:nvPr/>
        </p:nvCxnSpPr>
        <p:spPr bwMode="auto">
          <a:xfrm flipV="1">
            <a:off x="2771352" y="1572772"/>
            <a:ext cx="1905751" cy="3064384"/>
          </a:xfrm>
          <a:prstGeom prst="bentConnector3">
            <a:avLst>
              <a:gd name="adj1" fmla="val 50000"/>
            </a:avLst>
          </a:prstGeom>
          <a:ln w="6350">
            <a:noFill/>
            <a:headEnd type="none" w="med" len="med"/>
            <a:tailEnd type="stealth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7" name="Rectangle 6">
            <a:extLst>
              <a:ext uri="{FF2B5EF4-FFF2-40B4-BE49-F238E27FC236}">
                <a16:creationId xmlns:a16="http://schemas.microsoft.com/office/drawing/2014/main" id="{ECC6F87D-FB3A-4E7F-9B88-F2F0AD502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001" y="1988840"/>
            <a:ext cx="1583952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Lamination</a:t>
            </a:r>
          </a:p>
        </p:txBody>
      </p:sp>
      <p:sp>
        <p:nvSpPr>
          <p:cNvPr id="128" name="Rectangle 6">
            <a:extLst>
              <a:ext uri="{FF2B5EF4-FFF2-40B4-BE49-F238E27FC236}">
                <a16:creationId xmlns:a16="http://schemas.microsoft.com/office/drawing/2014/main" id="{10C9869A-D6B4-42DD-A744-723BB704C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001" y="2636912"/>
            <a:ext cx="1583952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Back-grind</a:t>
            </a:r>
          </a:p>
        </p:txBody>
      </p:sp>
      <p:sp>
        <p:nvSpPr>
          <p:cNvPr id="129" name="Rectangle 6">
            <a:extLst>
              <a:ext uri="{FF2B5EF4-FFF2-40B4-BE49-F238E27FC236}">
                <a16:creationId xmlns:a16="http://schemas.microsoft.com/office/drawing/2014/main" id="{922177F7-6F7D-4BD9-97A6-99D7F89C5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001" y="1340768"/>
            <a:ext cx="1583952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Wafer incoming</a:t>
            </a:r>
          </a:p>
        </p:txBody>
      </p:sp>
      <p:sp>
        <p:nvSpPr>
          <p:cNvPr id="130" name="Rectangle 18">
            <a:extLst>
              <a:ext uri="{FF2B5EF4-FFF2-40B4-BE49-F238E27FC236}">
                <a16:creationId xmlns:a16="http://schemas.microsoft.com/office/drawing/2014/main" id="{9B7410C9-E5A3-4C19-BAA6-CE0656F2D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6295" y="4953032"/>
            <a:ext cx="1584000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FVI</a:t>
            </a:r>
          </a:p>
        </p:txBody>
      </p:sp>
      <p:sp>
        <p:nvSpPr>
          <p:cNvPr id="131" name="Rectangle 18">
            <a:extLst>
              <a:ext uri="{FF2B5EF4-FFF2-40B4-BE49-F238E27FC236}">
                <a16:creationId xmlns:a16="http://schemas.microsoft.com/office/drawing/2014/main" id="{75756156-31F8-446B-9FED-ADB7A1AC6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6295" y="5557280"/>
            <a:ext cx="1584000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Shipping</a:t>
            </a:r>
          </a:p>
        </p:txBody>
      </p:sp>
      <p:sp>
        <p:nvSpPr>
          <p:cNvPr id="132" name="Rectangle 19">
            <a:extLst>
              <a:ext uri="{FF2B5EF4-FFF2-40B4-BE49-F238E27FC236}">
                <a16:creationId xmlns:a16="http://schemas.microsoft.com/office/drawing/2014/main" id="{6767BD8E-A3A9-4CE1-B1B3-20A530C29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6295" y="3120116"/>
            <a:ext cx="1584000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Marking</a:t>
            </a:r>
          </a:p>
        </p:txBody>
      </p:sp>
      <p:cxnSp>
        <p:nvCxnSpPr>
          <p:cNvPr id="133" name="Connector: Elbow 7">
            <a:extLst>
              <a:ext uri="{FF2B5EF4-FFF2-40B4-BE49-F238E27FC236}">
                <a16:creationId xmlns:a16="http://schemas.microsoft.com/office/drawing/2014/main" id="{FD5AD844-9AF0-46D4-907D-A67D4A8581C1}"/>
              </a:ext>
            </a:extLst>
          </p:cNvPr>
          <p:cNvCxnSpPr>
            <a:cxnSpLocks/>
            <a:stCxn id="135" idx="3"/>
            <a:endCxn id="124" idx="1"/>
          </p:cNvCxnSpPr>
          <p:nvPr/>
        </p:nvCxnSpPr>
        <p:spPr>
          <a:xfrm flipV="1">
            <a:off x="6261103" y="1572772"/>
            <a:ext cx="797551" cy="3672408"/>
          </a:xfrm>
          <a:prstGeom prst="bentConnector3">
            <a:avLst>
              <a:gd name="adj1" fmla="val 5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: Elbow 47">
            <a:extLst>
              <a:ext uri="{FF2B5EF4-FFF2-40B4-BE49-F238E27FC236}">
                <a16:creationId xmlns:a16="http://schemas.microsoft.com/office/drawing/2014/main" id="{214DC35C-150E-4BC9-8C17-5F653C8109D0}"/>
              </a:ext>
            </a:extLst>
          </p:cNvPr>
          <p:cNvCxnSpPr>
            <a:cxnSpLocks/>
            <a:stCxn id="116" idx="3"/>
            <a:endCxn id="118" idx="1"/>
          </p:cNvCxnSpPr>
          <p:nvPr/>
        </p:nvCxnSpPr>
        <p:spPr>
          <a:xfrm flipV="1">
            <a:off x="2771352" y="1572772"/>
            <a:ext cx="1905751" cy="3064384"/>
          </a:xfrm>
          <a:prstGeom prst="bentConnector3">
            <a:avLst>
              <a:gd name="adj1" fmla="val 78256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37">
            <a:extLst>
              <a:ext uri="{FF2B5EF4-FFF2-40B4-BE49-F238E27FC236}">
                <a16:creationId xmlns:a16="http://schemas.microsoft.com/office/drawing/2014/main" id="{15AE89A1-6480-4AA9-A7C7-C90A0CAC0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7103" y="5013176"/>
            <a:ext cx="1584000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US" altLang="ko-KR" sz="1400" b="1" baseline="30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rd</a:t>
            </a:r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Inspection</a:t>
            </a:r>
          </a:p>
        </p:txBody>
      </p:sp>
      <p:sp>
        <p:nvSpPr>
          <p:cNvPr id="136" name="Rectangle 34">
            <a:extLst>
              <a:ext uri="{FF2B5EF4-FFF2-40B4-BE49-F238E27FC236}">
                <a16:creationId xmlns:a16="http://schemas.microsoft.com/office/drawing/2014/main" id="{1D00D980-206F-4AA6-9E3D-B551FED08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7103" y="2748968"/>
            <a:ext cx="1584000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Cure </a:t>
            </a:r>
          </a:p>
        </p:txBody>
      </p:sp>
      <p:sp>
        <p:nvSpPr>
          <p:cNvPr id="137" name="Rectangle 36">
            <a:extLst>
              <a:ext uri="{FF2B5EF4-FFF2-40B4-BE49-F238E27FC236}">
                <a16:creationId xmlns:a16="http://schemas.microsoft.com/office/drawing/2014/main" id="{6F7F9FD2-E7AC-4B26-AE76-505DFB5BE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7103" y="3429000"/>
            <a:ext cx="1584000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Plasma Clean </a:t>
            </a:r>
          </a:p>
        </p:txBody>
      </p:sp>
      <p:sp>
        <p:nvSpPr>
          <p:cNvPr id="138" name="Rectangle 32">
            <a:extLst>
              <a:ext uri="{FF2B5EF4-FFF2-40B4-BE49-F238E27FC236}">
                <a16:creationId xmlns:a16="http://schemas.microsoft.com/office/drawing/2014/main" id="{3FAD12E6-BADC-41CA-B8B9-C5AA78843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7103" y="4189128"/>
            <a:ext cx="1584000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Wire Bonding</a:t>
            </a:r>
          </a:p>
        </p:txBody>
      </p:sp>
      <p:sp>
        <p:nvSpPr>
          <p:cNvPr id="139" name="Rectangle 18">
            <a:extLst>
              <a:ext uri="{FF2B5EF4-FFF2-40B4-BE49-F238E27FC236}">
                <a16:creationId xmlns:a16="http://schemas.microsoft.com/office/drawing/2014/main" id="{9B7410C9-E5A3-4C19-BAA6-CE0656F2D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6295" y="4345228"/>
            <a:ext cx="1584000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Bake</a:t>
            </a:r>
          </a:p>
        </p:txBody>
      </p:sp>
      <p:sp>
        <p:nvSpPr>
          <p:cNvPr id="140" name="Rectangle 18">
            <a:extLst>
              <a:ext uri="{FF2B5EF4-FFF2-40B4-BE49-F238E27FC236}">
                <a16:creationId xmlns:a16="http://schemas.microsoft.com/office/drawing/2014/main" id="{9B7410C9-E5A3-4C19-BAA6-CE0656F2D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456" y="3717032"/>
            <a:ext cx="1584000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Strip Test</a:t>
            </a:r>
          </a:p>
        </p:txBody>
      </p:sp>
      <p:cxnSp>
        <p:nvCxnSpPr>
          <p:cNvPr id="141" name="Straight Arrow Connector 2">
            <a:extLst>
              <a:ext uri="{FF2B5EF4-FFF2-40B4-BE49-F238E27FC236}">
                <a16:creationId xmlns:a16="http://schemas.microsoft.com/office/drawing/2014/main" id="{4352299D-CEE7-4318-ACF2-33CB1AA0052F}"/>
              </a:ext>
            </a:extLst>
          </p:cNvPr>
          <p:cNvCxnSpPr>
            <a:cxnSpLocks/>
            <a:stCxn id="145" idx="2"/>
            <a:endCxn id="142" idx="0"/>
          </p:cNvCxnSpPr>
          <p:nvPr/>
        </p:nvCxnSpPr>
        <p:spPr>
          <a:xfrm>
            <a:off x="1115504" y="1804776"/>
            <a:ext cx="0" cy="155221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6">
            <a:extLst>
              <a:ext uri="{FF2B5EF4-FFF2-40B4-BE49-F238E27FC236}">
                <a16:creationId xmlns:a16="http://schemas.microsoft.com/office/drawing/2014/main" id="{89E9775F-8F7F-4B2C-BEB2-D50F0A5AB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3356992"/>
            <a:ext cx="1583952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SMT Bake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(Sub Bake)</a:t>
            </a:r>
          </a:p>
        </p:txBody>
      </p:sp>
      <p:sp>
        <p:nvSpPr>
          <p:cNvPr id="143" name="Rectangle 6">
            <a:extLst>
              <a:ext uri="{FF2B5EF4-FFF2-40B4-BE49-F238E27FC236}">
                <a16:creationId xmlns:a16="http://schemas.microsoft.com/office/drawing/2014/main" id="{ECC6F87D-FB3A-4E7F-9B88-F2F0AD502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1988840"/>
            <a:ext cx="1583952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SMT_Front</a:t>
            </a:r>
          </a:p>
        </p:txBody>
      </p:sp>
      <p:sp>
        <p:nvSpPr>
          <p:cNvPr id="144" name="Rectangle 6">
            <a:extLst>
              <a:ext uri="{FF2B5EF4-FFF2-40B4-BE49-F238E27FC236}">
                <a16:creationId xmlns:a16="http://schemas.microsoft.com/office/drawing/2014/main" id="{10C9869A-D6B4-42DD-A744-723BB704C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2636912"/>
            <a:ext cx="1583952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SMT_Deflux</a:t>
            </a:r>
          </a:p>
        </p:txBody>
      </p:sp>
      <p:sp>
        <p:nvSpPr>
          <p:cNvPr id="145" name="Rectangle 6">
            <a:extLst>
              <a:ext uri="{FF2B5EF4-FFF2-40B4-BE49-F238E27FC236}">
                <a16:creationId xmlns:a16="http://schemas.microsoft.com/office/drawing/2014/main" id="{922177F7-6F7D-4BD9-97A6-99D7F89C5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1340768"/>
            <a:ext cx="1583952" cy="4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sysDash"/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r>
              <a:rPr lang="en-US" altLang="ko-KR" sz="1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PCB incoming</a:t>
            </a:r>
          </a:p>
        </p:txBody>
      </p:sp>
      <p:cxnSp>
        <p:nvCxnSpPr>
          <p:cNvPr id="146" name="꺾인 연결선 145"/>
          <p:cNvCxnSpPr>
            <a:stCxn id="142" idx="2"/>
            <a:endCxn id="115" idx="2"/>
          </p:cNvCxnSpPr>
          <p:nvPr/>
        </p:nvCxnSpPr>
        <p:spPr bwMode="auto">
          <a:xfrm rot="16200000" flipH="1">
            <a:off x="2068240" y="2868263"/>
            <a:ext cx="12700" cy="1905473"/>
          </a:xfrm>
          <a:prstGeom prst="bentConnector3">
            <a:avLst>
              <a:gd name="adj1" fmla="val 1800000"/>
            </a:avLst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2">
            <a:extLst>
              <a:ext uri="{FF2B5EF4-FFF2-40B4-BE49-F238E27FC236}">
                <a16:creationId xmlns:a16="http://schemas.microsoft.com/office/drawing/2014/main" id="{4352299D-CEE7-4318-ACF2-33CB1AA0052F}"/>
              </a:ext>
            </a:extLst>
          </p:cNvPr>
          <p:cNvCxnSpPr>
            <a:cxnSpLocks/>
          </p:cNvCxnSpPr>
          <p:nvPr/>
        </p:nvCxnSpPr>
        <p:spPr>
          <a:xfrm>
            <a:off x="2051720" y="4077072"/>
            <a:ext cx="0" cy="36004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 Box 99"/>
          <p:cNvSpPr txBox="1">
            <a:spLocks noChangeArrowheads="1"/>
          </p:cNvSpPr>
          <p:nvPr/>
        </p:nvSpPr>
        <p:spPr bwMode="auto">
          <a:xfrm>
            <a:off x="0" y="620713"/>
            <a:ext cx="9906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44000">
            <a:spAutoFit/>
          </a:bodyPr>
          <a:lstStyle/>
          <a:p>
            <a:pPr marL="266700" indent="-266700" eaLnBrk="0" latinLnBrk="0" hangingPunct="0">
              <a:spcBef>
                <a:spcPct val="50000"/>
              </a:spcBef>
              <a:buFont typeface="Wingdings" pitchFamily="2" charset="2"/>
              <a:buChar char="ü"/>
            </a:pPr>
            <a:r>
              <a:rPr kumimoji="0" lang="en-US" altLang="ko-KR" sz="1600" b="1" dirty="0">
                <a:latin typeface="Trebuchet MS" panose="020B0603020202020204" pitchFamily="34" charset="0"/>
                <a:ea typeface="HY견명조" panose="02030600000101010101" pitchFamily="18" charset="-127"/>
                <a:cs typeface="Tahoma" pitchFamily="34" charset="0"/>
              </a:rPr>
              <a:t>Process Flow</a:t>
            </a:r>
          </a:p>
        </p:txBody>
      </p:sp>
      <p:sp>
        <p:nvSpPr>
          <p:cNvPr id="151" name="직사각형 4"/>
          <p:cNvSpPr>
            <a:spLocks noChangeArrowheads="1"/>
          </p:cNvSpPr>
          <p:nvPr/>
        </p:nvSpPr>
        <p:spPr bwMode="auto">
          <a:xfrm>
            <a:off x="10410" y="14304"/>
            <a:ext cx="7507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defTabSz="457200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0000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Arial" pitchFamily="34" charset="0"/>
              </a:rPr>
              <a:t>SATURN Project _ DOE Report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2144688" y="1287346"/>
            <a:ext cx="1724254" cy="2605661"/>
          </a:xfrm>
          <a:prstGeom prst="rect">
            <a:avLst/>
          </a:prstGeom>
          <a:noFill/>
          <a:ln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2074590" y="1054536"/>
            <a:ext cx="470000" cy="2862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66700" indent="-266700" eaLnBrk="0" latinLnBrk="0" hangingPunct="0">
              <a:lnSpc>
                <a:spcPct val="70000"/>
              </a:lnSpc>
              <a:spcBef>
                <a:spcPct val="50000"/>
              </a:spcBef>
            </a:pPr>
            <a:r>
              <a:rPr kumimoji="0" lang="en-US" altLang="ko-KR" sz="1800" b="1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  <a:cs typeface="Tahoma" pitchFamily="34" charset="0"/>
              </a:rPr>
              <a:t>DP</a:t>
            </a:r>
            <a:endParaRPr kumimoji="0" lang="en-US" altLang="ko-KR" sz="1800" b="1" dirty="0">
              <a:solidFill>
                <a:srgbClr val="0000FF"/>
              </a:solidFill>
              <a:latin typeface="Trebuchet MS" panose="020B0603020202020204" pitchFamily="34" charset="0"/>
              <a:ea typeface="HY견명조" panose="02030600000101010101" pitchFamily="18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589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01"/>
          <p:cNvSpPr txBox="1">
            <a:spLocks noChangeArrowheads="1"/>
          </p:cNvSpPr>
          <p:nvPr/>
        </p:nvSpPr>
        <p:spPr bwMode="auto">
          <a:xfrm>
            <a:off x="0" y="620688"/>
            <a:ext cx="99060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44000">
            <a:spAutoFit/>
          </a:bodyPr>
          <a:lstStyle/>
          <a:p>
            <a:pPr marL="266700" indent="-266700" eaLnBrk="0" latinLnBrk="0" hangingPunct="0"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kumimoji="0" lang="ko-KR" altLang="en-US" sz="1600" b="1">
                <a:latin typeface="Trebuchet MS" panose="020B0603020202020204" pitchFamily="34" charset="0"/>
                <a:ea typeface="HY견명조" panose="02030600000101010101" pitchFamily="18" charset="-127"/>
                <a:cs typeface="Tahoma" pitchFamily="34" charset="0"/>
              </a:rPr>
              <a:t>품질 검사 검토 항목 </a:t>
            </a:r>
            <a:r>
              <a:rPr kumimoji="0" lang="en-US" altLang="ko-KR" sz="1600" b="1">
                <a:latin typeface="Trebuchet MS" panose="020B0603020202020204" pitchFamily="34" charset="0"/>
                <a:ea typeface="HY견명조" panose="02030600000101010101" pitchFamily="18" charset="-127"/>
                <a:cs typeface="Tahoma" pitchFamily="34" charset="0"/>
              </a:rPr>
              <a:t>(CTQ Check)</a:t>
            </a:r>
            <a:endParaRPr kumimoji="0" lang="en-US" altLang="ko-KR" sz="1600" b="1" dirty="0">
              <a:latin typeface="Trebuchet MS" panose="020B0603020202020204" pitchFamily="34" charset="0"/>
              <a:ea typeface="HY견명조" panose="02030600000101010101" pitchFamily="18" charset="-127"/>
              <a:cs typeface="Tahoma" pitchFamily="34" charset="0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891183"/>
              </p:ext>
            </p:extLst>
          </p:nvPr>
        </p:nvGraphicFramePr>
        <p:xfrm>
          <a:off x="344488" y="1079058"/>
          <a:ext cx="4464496" cy="3709283"/>
        </p:xfrm>
        <a:graphic>
          <a:graphicData uri="http://schemas.openxmlformats.org/drawingml/2006/table">
            <a:tbl>
              <a:tblPr firstRow="1" firstCol="1" bandRow="1"/>
              <a:tblGrid>
                <a:gridCol w="1240782">
                  <a:extLst>
                    <a:ext uri="{9D8B030D-6E8A-4147-A177-3AD203B41FA5}">
                      <a16:colId xmlns:a16="http://schemas.microsoft.com/office/drawing/2014/main" val="3497365711"/>
                    </a:ext>
                  </a:extLst>
                </a:gridCol>
                <a:gridCol w="1611857">
                  <a:extLst>
                    <a:ext uri="{9D8B030D-6E8A-4147-A177-3AD203B41FA5}">
                      <a16:colId xmlns:a16="http://schemas.microsoft.com/office/drawing/2014/main" val="609619923"/>
                    </a:ext>
                  </a:extLst>
                </a:gridCol>
                <a:gridCol w="1611857">
                  <a:extLst>
                    <a:ext uri="{9D8B030D-6E8A-4147-A177-3AD203B41FA5}">
                      <a16:colId xmlns:a16="http://schemas.microsoft.com/office/drawing/2014/main" val="3561882480"/>
                    </a:ext>
                  </a:extLst>
                </a:gridCol>
              </a:tblGrid>
              <a:tr h="32637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Process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Inspection Item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Sample Size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978588"/>
                  </a:ext>
                </a:extLst>
              </a:tr>
              <a:tr h="38465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굴림" panose="020B0600000101010101" pitchFamily="50" charset="-127"/>
                        </a:rPr>
                        <a:t>BG Tape</a:t>
                      </a: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굴림" panose="020B0600000101010101" pitchFamily="50" charset="-127"/>
                        </a:rPr>
                        <a:t>LAMINATION</a:t>
                      </a:r>
                      <a:endParaRPr lang="ko-KR" sz="1000" dirty="0"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굴림" panose="020B0600000101010101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900" b="0" dirty="0"/>
                        <a:t>VISUAL</a:t>
                      </a:r>
                      <a:endParaRPr lang="ko-KR" sz="900" b="0" dirty="0"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굴림" panose="020B0600000101010101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900" dirty="0"/>
                        <a:t>1 SUB / M.C / 1st LOT</a:t>
                      </a:r>
                      <a:endParaRPr lang="ko-KR" sz="900" b="0" dirty="0"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굴림" panose="020B0600000101010101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005592"/>
                  </a:ext>
                </a:extLst>
              </a:tr>
              <a:tr h="38465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굴림" panose="020B0600000101010101" pitchFamily="50" charset="-127"/>
                        </a:rPr>
                        <a:t>Wafer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굴림" panose="020B0600000101010101" pitchFamily="50" charset="-127"/>
                        </a:rPr>
                        <a:t>BACK GRIND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굴림" panose="020B0600000101010101" pitchFamily="50" charset="-127"/>
                      </a:endParaRPr>
                    </a:p>
                  </a:txBody>
                  <a:tcPr marL="8792" marR="8792" marT="8792" marB="0" anchor="ctr"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900" b="0" dirty="0"/>
                        <a:t>WAFER THICKNESS</a:t>
                      </a:r>
                      <a:endParaRPr lang="ko-KR" sz="900" b="0" dirty="0"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굴림" panose="020B0600000101010101" pitchFamily="50" charset="-127"/>
                      </a:endParaRPr>
                    </a:p>
                  </a:txBody>
                  <a:tcPr marL="8792" marR="8792" marT="8792" marB="0" anchor="ctr"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900" b="0" dirty="0"/>
                        <a:t>13 Points / All Wafer</a:t>
                      </a:r>
                      <a:endParaRPr lang="ko-KR" sz="900" b="0" dirty="0"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굴림" panose="020B0600000101010101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2476241"/>
                  </a:ext>
                </a:extLst>
              </a:tr>
              <a:tr h="219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900" b="0" dirty="0"/>
                        <a:t>WAFER ROUGHNESS</a:t>
                      </a:r>
                      <a:endParaRPr lang="ko-KR" sz="900" b="0" dirty="0"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굴림" panose="020B0600000101010101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900" b="0" dirty="0"/>
                        <a:t>5 Points / Each Wafer</a:t>
                      </a:r>
                      <a:endParaRPr lang="ko-KR" sz="900" b="0" dirty="0"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굴림" panose="020B0600000101010101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112144"/>
                  </a:ext>
                </a:extLst>
              </a:tr>
              <a:tr h="219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900" b="0" dirty="0"/>
                        <a:t>WAFER TTV</a:t>
                      </a:r>
                      <a:endParaRPr lang="ko-KR" sz="900" b="0" dirty="0"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굴림" panose="020B0600000101010101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de-DE" altLang="ko-KR" sz="900" b="0" dirty="0"/>
                        <a:t>12inch</a:t>
                      </a:r>
                      <a:endParaRPr lang="ko-KR" altLang="ko-KR" sz="900" b="0" dirty="0"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굴림" panose="020B0600000101010101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8784668"/>
                  </a:ext>
                </a:extLst>
              </a:tr>
              <a:tr h="2199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Wafer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굴림" panose="020B0600000101010101" pitchFamily="50" charset="-127"/>
                        </a:rPr>
                        <a:t>Saw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굴림" panose="020B0600000101010101" pitchFamily="50" charset="-127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900" b="0" dirty="0"/>
                        <a:t>KERF WIDTH</a:t>
                      </a:r>
                      <a:endParaRPr lang="ko-KR" sz="900" b="0" dirty="0"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굴림" panose="020B0600000101010101" pitchFamily="50" charset="-127"/>
                      </a:endParaRPr>
                    </a:p>
                  </a:txBody>
                  <a:tcPr marL="8792" marR="8792" marT="8792" marB="0" anchor="ctr"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900" b="0" dirty="0"/>
                        <a:t>10 Points / All Wafer (</a:t>
                      </a:r>
                      <a:r>
                        <a:rPr lang="ko-KR" altLang="en-US" sz="900" b="0" dirty="0"/>
                        <a:t>또는 </a:t>
                      </a:r>
                      <a:r>
                        <a:rPr lang="en-US" altLang="ko-KR" sz="900" b="0" dirty="0"/>
                        <a:t>10Points / Each Wafer)</a:t>
                      </a:r>
                      <a:endParaRPr lang="ko-KR" sz="900" b="0" dirty="0"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굴림" panose="020B0600000101010101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931852"/>
                  </a:ext>
                </a:extLst>
              </a:tr>
              <a:tr h="5711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900" b="0" dirty="0"/>
                        <a:t>CHIPPING / CRACK</a:t>
                      </a:r>
                      <a:endParaRPr lang="en-US" altLang="ko-KR" sz="900" b="0" baseline="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굴림" panose="020B0600000101010101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900" b="0" dirty="0"/>
                        <a:t>All Wafer / Run (</a:t>
                      </a:r>
                      <a:r>
                        <a:rPr lang="ko-KR" altLang="en-US" sz="900" b="0" dirty="0"/>
                        <a:t>또는 </a:t>
                      </a:r>
                      <a:r>
                        <a:rPr lang="en-US" altLang="ko-KR" sz="900" b="0" dirty="0"/>
                        <a:t>2 Wafer / Each Evaluation)</a:t>
                      </a:r>
                      <a:endParaRPr lang="ko-KR" altLang="ko-KR" sz="900" b="0" dirty="0"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굴림" panose="020B0600000101010101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204553"/>
                  </a:ext>
                </a:extLst>
              </a:tr>
              <a:tr h="21991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PCB SMT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VISUAL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1SUB /M.C/1st LOT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9428857"/>
                  </a:ext>
                </a:extLst>
              </a:tr>
              <a:tr h="219915">
                <a:tc rowSpan="5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DIE</a:t>
                      </a:r>
                      <a:r>
                        <a:rPr lang="en-US" sz="100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ATTACH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VISUAL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SUB/M.C/1st LOT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402634"/>
                  </a:ext>
                </a:extLst>
              </a:tr>
              <a:tr h="219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TAPE VOID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 UNIT/M.C/1st LOT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715190"/>
                  </a:ext>
                </a:extLst>
              </a:tr>
              <a:tr h="219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DIE ACCURACY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 UNIT/M.C/1st LOT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437042"/>
                  </a:ext>
                </a:extLst>
              </a:tr>
              <a:tr h="219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BONDLINE THICKNESS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 UNIT/M.C/1st LOT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6951744"/>
                  </a:ext>
                </a:extLst>
              </a:tr>
              <a:tr h="2199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PARAMETER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M.C/ 1st LOT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342883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070843"/>
              </p:ext>
            </p:extLst>
          </p:nvPr>
        </p:nvGraphicFramePr>
        <p:xfrm>
          <a:off x="4952999" y="1079058"/>
          <a:ext cx="4608511" cy="3646082"/>
        </p:xfrm>
        <a:graphic>
          <a:graphicData uri="http://schemas.openxmlformats.org/drawingml/2006/table">
            <a:tbl>
              <a:tblPr firstRow="1" firstCol="1" bandRow="1"/>
              <a:tblGrid>
                <a:gridCol w="1309787">
                  <a:extLst>
                    <a:ext uri="{9D8B030D-6E8A-4147-A177-3AD203B41FA5}">
                      <a16:colId xmlns:a16="http://schemas.microsoft.com/office/drawing/2014/main" val="3002032600"/>
                    </a:ext>
                  </a:extLst>
                </a:gridCol>
                <a:gridCol w="1649362">
                  <a:extLst>
                    <a:ext uri="{9D8B030D-6E8A-4147-A177-3AD203B41FA5}">
                      <a16:colId xmlns:a16="http://schemas.microsoft.com/office/drawing/2014/main" val="2618329291"/>
                    </a:ext>
                  </a:extLst>
                </a:gridCol>
                <a:gridCol w="1649362">
                  <a:extLst>
                    <a:ext uri="{9D8B030D-6E8A-4147-A177-3AD203B41FA5}">
                      <a16:colId xmlns:a16="http://schemas.microsoft.com/office/drawing/2014/main" val="1547541192"/>
                    </a:ext>
                  </a:extLst>
                </a:gridCol>
              </a:tblGrid>
              <a:tr h="31277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Process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Inspection Item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Sample Size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592384"/>
                  </a:ext>
                </a:extLst>
              </a:tr>
              <a:tr h="229911">
                <a:tc rowSpan="7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WIRE </a:t>
                      </a:r>
                      <a:b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</a:b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BONDING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VISUAL/PARA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SUB/M.C/1st LOT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8429248"/>
                  </a:ext>
                </a:extLst>
              </a:tr>
              <a:tr h="4021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BOND PULL 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TEST(*)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55 WIRE/M.C/1st LOT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706505"/>
                  </a:ext>
                </a:extLst>
              </a:tr>
              <a:tr h="4021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BALL SHEAR 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TEST(*)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22 BALL/M.C/1st LOT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478337"/>
                  </a:ext>
                </a:extLst>
              </a:tr>
              <a:tr h="229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LOOP HEIGHT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11 WIRE/M.C/1st LOT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219149"/>
                  </a:ext>
                </a:extLst>
              </a:tr>
              <a:tr h="229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BALL HEIGHT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11 WIRE/M.C/1st LOT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876006"/>
                  </a:ext>
                </a:extLst>
              </a:tr>
              <a:tr h="229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BALL DIAMETER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11 WIRE/M.C/1st LOT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623854"/>
                  </a:ext>
                </a:extLst>
              </a:tr>
              <a:tr h="229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KOH ETCHING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5WIRE/M.C/ 3 LOTS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3932500"/>
                  </a:ext>
                </a:extLst>
              </a:tr>
              <a:tr h="22991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IVI GATE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VISUAL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AQL 0.065%/LOT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6391290"/>
                  </a:ext>
                </a:extLst>
              </a:tr>
              <a:tr h="229911">
                <a:tc rowSpan="4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MOLDING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VISUAL/PARA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SHOT/M.C/1st LOT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807060"/>
                  </a:ext>
                </a:extLst>
              </a:tr>
              <a:tr h="229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S.A.T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SHOT/M.C/1st LOT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778537"/>
                  </a:ext>
                </a:extLst>
              </a:tr>
              <a:tr h="229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X-RAY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SHOT/M.C/1st LOT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991380"/>
                  </a:ext>
                </a:extLst>
              </a:tr>
              <a:tr h="229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Mold Thickness check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STRIP /1st LOT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8456259"/>
                  </a:ext>
                </a:extLst>
              </a:tr>
              <a:tr h="22991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MARKING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VISUAL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1SUB /M.C/1st LOT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809959"/>
                  </a:ext>
                </a:extLst>
              </a:tr>
            </a:tbl>
          </a:graphicData>
        </a:graphic>
      </p:graphicFrame>
      <p:sp>
        <p:nvSpPr>
          <p:cNvPr id="7" name="직사각형 4"/>
          <p:cNvSpPr>
            <a:spLocks noChangeArrowheads="1"/>
          </p:cNvSpPr>
          <p:nvPr/>
        </p:nvSpPr>
        <p:spPr bwMode="auto">
          <a:xfrm>
            <a:off x="10410" y="14304"/>
            <a:ext cx="7507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defTabSz="457200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0000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Arial" pitchFamily="34" charset="0"/>
              </a:rPr>
              <a:t>SATURN Project _ DOE Report</a:t>
            </a:r>
          </a:p>
        </p:txBody>
      </p:sp>
      <p:sp>
        <p:nvSpPr>
          <p:cNvPr id="2" name="말풍선: 모서리가 둥근 사각형 1">
            <a:extLst>
              <a:ext uri="{FF2B5EF4-FFF2-40B4-BE49-F238E27FC236}">
                <a16:creationId xmlns:a16="http://schemas.microsoft.com/office/drawing/2014/main" id="{158BF4CF-9EDC-15F8-3757-3129CCA77FDB}"/>
              </a:ext>
            </a:extLst>
          </p:cNvPr>
          <p:cNvSpPr/>
          <p:nvPr/>
        </p:nvSpPr>
        <p:spPr bwMode="auto">
          <a:xfrm>
            <a:off x="488504" y="4921892"/>
            <a:ext cx="9073006" cy="1315419"/>
          </a:xfrm>
          <a:prstGeom prst="wedgeRoundRectCallout">
            <a:avLst>
              <a:gd name="adj1" fmla="val 22800"/>
              <a:gd name="adj2" fmla="val -41127"/>
              <a:gd name="adj3" fmla="val 16667"/>
            </a:avLst>
          </a:prstGeom>
          <a:solidFill>
            <a:srgbClr val="FFFFBD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anose="02030600000101010101" pitchFamily="18" charset="-127"/>
              </a:rPr>
              <a:t>★ HINT ★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Batang" panose="02030600000101010101" pitchFamily="18" charset="-127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rgbClr val="0000FF"/>
                </a:solidFill>
                <a:ea typeface="Batang" panose="02030600000101010101" pitchFamily="18" charset="-127"/>
              </a:rPr>
              <a:t>초기 제품 개발 검토 단계에서 수립된 검사 항목 및 샘플링 검사 수량을 기입한다</a:t>
            </a:r>
            <a:r>
              <a:rPr lang="en-US" altLang="ko-KR" sz="1200" dirty="0">
                <a:solidFill>
                  <a:srgbClr val="0000FF"/>
                </a:solidFill>
                <a:ea typeface="Batang" panose="02030600000101010101" pitchFamily="18" charset="-127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solidFill>
                <a:srgbClr val="0000FF"/>
              </a:solidFill>
              <a:ea typeface="Batang" panose="02030600000101010101" pitchFamily="18" charset="-127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rgbClr val="0000FF"/>
                </a:solidFill>
                <a:ea typeface="Batang" panose="02030600000101010101" pitchFamily="18" charset="-127"/>
              </a:rPr>
              <a:t>어떤 목적으로 검토되었던 내용인지 명확히 알고 있어야 하며</a:t>
            </a:r>
            <a:r>
              <a:rPr lang="en-US" altLang="ko-KR" sz="1200" dirty="0">
                <a:solidFill>
                  <a:srgbClr val="0000FF"/>
                </a:solidFill>
                <a:ea typeface="Batang" panose="02030600000101010101" pitchFamily="18" charset="-127"/>
              </a:rPr>
              <a:t>, 6Page </a:t>
            </a:r>
            <a:r>
              <a:rPr lang="ko-KR" altLang="en-US" sz="1200" dirty="0">
                <a:solidFill>
                  <a:srgbClr val="0000FF"/>
                </a:solidFill>
                <a:ea typeface="Batang" panose="02030600000101010101" pitchFamily="18" charset="-127"/>
              </a:rPr>
              <a:t>부터는 검사된 결과가 </a:t>
            </a:r>
            <a:r>
              <a:rPr lang="en-US" altLang="ko-KR" sz="1200" dirty="0">
                <a:solidFill>
                  <a:srgbClr val="0000FF"/>
                </a:solidFill>
                <a:ea typeface="Batang" panose="02030600000101010101" pitchFamily="18" charset="-127"/>
              </a:rPr>
              <a:t>Data</a:t>
            </a:r>
            <a:r>
              <a:rPr lang="ko-KR" altLang="en-US" sz="1200" dirty="0">
                <a:solidFill>
                  <a:srgbClr val="0000FF"/>
                </a:solidFill>
                <a:ea typeface="Batang" panose="02030600000101010101" pitchFamily="18" charset="-127"/>
              </a:rPr>
              <a:t>로 명시되어 고객에게 품질 특이사항이 없음을 보여주는 근거 자료로 활용된다</a:t>
            </a:r>
            <a:r>
              <a:rPr lang="en-US" altLang="ko-KR" sz="1200" dirty="0">
                <a:solidFill>
                  <a:srgbClr val="0000FF"/>
                </a:solidFill>
                <a:ea typeface="Batang" panose="02030600000101010101" pitchFamily="18" charset="-127"/>
              </a:rPr>
              <a:t>.</a:t>
            </a:r>
            <a:endParaRPr lang="ko-KR" altLang="en-US" sz="1200" dirty="0">
              <a:solidFill>
                <a:srgbClr val="0000FF"/>
              </a:solidFill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1503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" descr="흰색 대리석"/>
          <p:cNvSpPr txBox="1">
            <a:spLocks noChangeArrowheads="1"/>
          </p:cNvSpPr>
          <p:nvPr/>
        </p:nvSpPr>
        <p:spPr bwMode="auto">
          <a:xfrm>
            <a:off x="0" y="547787"/>
            <a:ext cx="99060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6000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400" b="1" dirty="0">
                <a:latin typeface="Trebuchet MS" panose="020B0603020202020204" pitchFamily="34" charset="0"/>
                <a:ea typeface="HY견명조" panose="02030600000101010101" pitchFamily="18" charset="-127"/>
              </a:rPr>
              <a:t>1. Back Grind Process Condition &amp; Result</a:t>
            </a:r>
            <a:endParaRPr lang="en-US" altLang="ko-KR" sz="1400" b="1" dirty="0">
              <a:solidFill>
                <a:srgbClr val="0000FF"/>
              </a:solidFill>
              <a:latin typeface="Trebuchet MS" panose="020B0603020202020204" pitchFamily="34" charset="0"/>
              <a:ea typeface="HY견명조" panose="02030600000101010101" pitchFamily="18" charset="-127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-15552" y="3516933"/>
            <a:ext cx="99060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520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n-US" altLang="ko-KR" sz="1200" b="1" dirty="0">
                <a:latin typeface="Trebuchet MS" panose="020B0603020202020204" pitchFamily="34" charset="0"/>
                <a:ea typeface="HY견명조" panose="02030600000101010101" pitchFamily="18" charset="-127"/>
              </a:rPr>
              <a:t>2) Visual </a:t>
            </a:r>
            <a:r>
              <a:rPr lang="en-US" altLang="ko-KR" sz="1200" b="1">
                <a:latin typeface="Trebuchet MS" panose="020B0603020202020204" pitchFamily="34" charset="0"/>
                <a:ea typeface="HY견명조" panose="02030600000101010101" pitchFamily="18" charset="-127"/>
              </a:rPr>
              <a:t>Inspection Result </a:t>
            </a:r>
            <a:r>
              <a:rPr lang="en-US" altLang="ko-KR" sz="1200" b="1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(9Page </a:t>
            </a:r>
            <a:r>
              <a:rPr lang="ko-KR" altLang="en-US" sz="1200" b="1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참조 </a:t>
            </a:r>
            <a:r>
              <a:rPr lang="en-US" altLang="ko-KR" sz="1200" b="1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/ Visual </a:t>
            </a:r>
            <a:r>
              <a:rPr lang="ko-KR" altLang="en-US" sz="1200" b="1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결과는 특이사항 없는 것으로 함</a:t>
            </a:r>
            <a:r>
              <a:rPr lang="en-US" altLang="ko-KR" sz="1200" b="1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)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ko-KR" sz="1200" b="1" dirty="0">
              <a:latin typeface="Trebuchet MS" panose="020B0603020202020204" pitchFamily="34" charset="0"/>
              <a:ea typeface="HY견명조" panose="02030600000101010101" pitchFamily="18" charset="-127"/>
            </a:endParaRPr>
          </a:p>
        </p:txBody>
      </p:sp>
      <p:graphicFrame>
        <p:nvGraphicFramePr>
          <p:cNvPr id="14" name="Group 2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789353"/>
              </p:ext>
            </p:extLst>
          </p:nvPr>
        </p:nvGraphicFramePr>
        <p:xfrm>
          <a:off x="257498" y="3863578"/>
          <a:ext cx="9359900" cy="489268"/>
        </p:xfrm>
        <a:graphic>
          <a:graphicData uri="http://schemas.openxmlformats.org/drawingml/2006/table">
            <a:tbl>
              <a:tblPr/>
              <a:tblGrid>
                <a:gridCol w="187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1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1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49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Item</a:t>
                      </a:r>
                    </a:p>
                  </a:txBody>
                  <a:tcPr marT="45809" marB="45809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Lot No.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T="45809" marB="45809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Sample Size</a:t>
                      </a:r>
                    </a:p>
                  </a:txBody>
                  <a:tcPr marT="45809" marB="45809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Inspection Results</a:t>
                      </a:r>
                    </a:p>
                  </a:txBody>
                  <a:tcPr marT="45809" marB="45809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3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Visual Inspection</a:t>
                      </a:r>
                    </a:p>
                  </a:txBody>
                  <a:tcPr marT="45809" marB="45809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DOE Lot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9" marR="91439" marT="45738" marB="4573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wafer / each evaluation</a:t>
                      </a:r>
                    </a:p>
                  </a:txBody>
                  <a:tcPr marT="45763" marB="4576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Pass / Fail</a:t>
                      </a:r>
                    </a:p>
                  </a:txBody>
                  <a:tcPr marT="45763" marB="45763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wafer / each evaluation</a:t>
                      </a:r>
                    </a:p>
                  </a:txBody>
                  <a:tcPr marT="45763" marB="45763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Group 4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59473"/>
              </p:ext>
            </p:extLst>
          </p:nvPr>
        </p:nvGraphicFramePr>
        <p:xfrm>
          <a:off x="273049" y="1198362"/>
          <a:ext cx="7019925" cy="2060079"/>
        </p:xfrm>
        <a:graphic>
          <a:graphicData uri="http://schemas.openxmlformats.org/drawingml/2006/table">
            <a:tbl>
              <a:tblPr/>
              <a:tblGrid>
                <a:gridCol w="233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Item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Spec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Applied Condition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8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Mount Table temp (°C)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75 ± 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266700" marR="0" lvl="0" indent="-266700" algn="l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75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또는 </a:t>
                      </a:r>
                      <a:r>
                        <a:rPr lang="en-US" altLang="ko-KR" sz="900" dirty="0"/>
                        <a:t>75 ℃)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8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Wheel RPM (RPM)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G1 : 2700±500  /  G2 : 2700±500 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266700" marR="0" lvl="0" indent="-266700" algn="l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G1 : 2700 / G2 : 2700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94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Wheel Feed (um/sec)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G1 : 6±4 / 5±3 / 4±3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G2 : 0.7±0.3 / 0.4±0.3 / 0.4±0.3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266700" marR="0" lvl="0" indent="-266700" algn="l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G1 : 5.0 / G2 : 0.5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8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Chuck Speed (RPM)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G1 : 300 / 300 / 300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G2 : -300 / -300 / -300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266700" marR="0" lvl="0" indent="-266700" algn="l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G1 : 300 / G2 : -300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-15552" y="4583658"/>
            <a:ext cx="9906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52000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200" b="1" dirty="0">
                <a:latin typeface="Trebuchet MS" panose="020B0603020202020204" pitchFamily="34" charset="0"/>
                <a:ea typeface="HY견명조" panose="02030600000101010101" pitchFamily="18" charset="-127"/>
              </a:rPr>
              <a:t>3) Wafer Roughness 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0" y="836712"/>
            <a:ext cx="9905999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520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200" b="1" dirty="0">
                <a:latin typeface="Trebuchet MS" panose="020B0603020202020204" pitchFamily="34" charset="0"/>
                <a:ea typeface="HY견명조" panose="02030600000101010101" pitchFamily="18" charset="-127"/>
              </a:rPr>
              <a:t>1</a:t>
            </a:r>
            <a:r>
              <a:rPr lang="en-US" altLang="ko-KR" sz="1200" b="1">
                <a:latin typeface="Trebuchet MS" panose="020B0603020202020204" pitchFamily="34" charset="0"/>
                <a:ea typeface="HY견명조" panose="02030600000101010101" pitchFamily="18" charset="-127"/>
              </a:rPr>
              <a:t>) Process Condition</a:t>
            </a:r>
            <a:endParaRPr lang="en-US" altLang="ko-KR" sz="1200" b="1" dirty="0">
              <a:latin typeface="Trebuchet MS" panose="020B0603020202020204" pitchFamily="34" charset="0"/>
              <a:ea typeface="HY견명조" panose="02030600000101010101" pitchFamily="18" charset="-127"/>
            </a:endParaRPr>
          </a:p>
        </p:txBody>
      </p:sp>
      <p:graphicFrame>
        <p:nvGraphicFramePr>
          <p:cNvPr id="18" name="Group 4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991511"/>
              </p:ext>
            </p:extLst>
          </p:nvPr>
        </p:nvGraphicFramePr>
        <p:xfrm>
          <a:off x="257498" y="4853054"/>
          <a:ext cx="9592044" cy="1621102"/>
        </p:xfrm>
        <a:graphic>
          <a:graphicData uri="http://schemas.openxmlformats.org/drawingml/2006/table">
            <a:tbl>
              <a:tblPr/>
              <a:tblGrid>
                <a:gridCol w="82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4165">
                  <a:extLst>
                    <a:ext uri="{9D8B030D-6E8A-4147-A177-3AD203B41FA5}">
                      <a16:colId xmlns:a16="http://schemas.microsoft.com/office/drawing/2014/main" val="2434464896"/>
                    </a:ext>
                  </a:extLst>
                </a:gridCol>
                <a:gridCol w="5901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1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8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8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8451">
                  <a:extLst>
                    <a:ext uri="{9D8B030D-6E8A-4147-A177-3AD203B41FA5}">
                      <a16:colId xmlns:a16="http://schemas.microsoft.com/office/drawing/2014/main" val="1642234798"/>
                    </a:ext>
                  </a:extLst>
                </a:gridCol>
                <a:gridCol w="640988">
                  <a:extLst>
                    <a:ext uri="{9D8B030D-6E8A-4147-A177-3AD203B41FA5}">
                      <a16:colId xmlns:a16="http://schemas.microsoft.com/office/drawing/2014/main" val="457339227"/>
                    </a:ext>
                  </a:extLst>
                </a:gridCol>
                <a:gridCol w="612518">
                  <a:extLst>
                    <a:ext uri="{9D8B030D-6E8A-4147-A177-3AD203B41FA5}">
                      <a16:colId xmlns:a16="http://schemas.microsoft.com/office/drawing/2014/main" val="4208641749"/>
                    </a:ext>
                  </a:extLst>
                </a:gridCol>
                <a:gridCol w="584046">
                  <a:extLst>
                    <a:ext uri="{9D8B030D-6E8A-4147-A177-3AD203B41FA5}">
                      <a16:colId xmlns:a16="http://schemas.microsoft.com/office/drawing/2014/main" val="949403025"/>
                    </a:ext>
                  </a:extLst>
                </a:gridCol>
                <a:gridCol w="584046">
                  <a:extLst>
                    <a:ext uri="{9D8B030D-6E8A-4147-A177-3AD203B41FA5}">
                      <a16:colId xmlns:a16="http://schemas.microsoft.com/office/drawing/2014/main" val="669557092"/>
                    </a:ext>
                  </a:extLst>
                </a:gridCol>
              </a:tblGrid>
              <a:tr h="3562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Lot No.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Spec</a:t>
                      </a: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Sample Size</a:t>
                      </a: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Test Step</a:t>
                      </a: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Result</a:t>
                      </a: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Data (nm)</a:t>
                      </a: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Min.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Max.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Avg.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Std.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Cpk.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788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DOE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Lot</a:t>
                      </a:r>
                    </a:p>
                  </a:txBody>
                  <a:tcPr marL="91439" marR="91439" marT="45802" marB="45802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Polishing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Skip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≤ 200nm</a:t>
                      </a: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5Points /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Each Wafer</a:t>
                      </a: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_1st wf</a:t>
                      </a:r>
                      <a:endParaRPr kumimoji="1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tx2"/>
                          </a:solidFill>
                          <a:effectLst/>
                          <a:latin typeface="Trebuchet MS" panose="020B0603020202020204" pitchFamily="34" charset="0"/>
                          <a:ea typeface="돋움" panose="020B0600000101010101" pitchFamily="50" charset="-127"/>
                        </a:rPr>
                        <a:t>Pass/Fail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76.47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87.37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84.49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85.24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76.47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76.47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87.37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83.03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4.56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8.54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7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_2nd wf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돋움" panose="020B0600000101010101" pitchFamily="50" charset="-127"/>
                          <a:cs typeface="+mn-cs"/>
                        </a:rPr>
                        <a:t>Pass/Fail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72.51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74.72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76.54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77.96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70.37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72.51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77.72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74.42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4.01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20.51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834486"/>
                  </a:ext>
                </a:extLst>
              </a:tr>
              <a:tr h="2197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9" marR="91439" marT="45802" marB="45802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_1st wf</a:t>
                      </a:r>
                      <a:endParaRPr kumimoji="1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돋움" panose="020B0600000101010101" pitchFamily="50" charset="-127"/>
                          <a:cs typeface="+mn-cs"/>
                        </a:rPr>
                        <a:t>Pass/Fail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73.80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82.70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77.34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71.60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66.52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66.52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82.70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74.39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2.04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8.68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205468"/>
                  </a:ext>
                </a:extLst>
              </a:tr>
              <a:tr h="2197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_2nd wf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돋움" panose="020B0600000101010101" pitchFamily="50" charset="-127"/>
                          <a:cs typeface="+mn-cs"/>
                        </a:rPr>
                        <a:t>Pass/Fail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75.06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83.20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74.09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72.53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83.75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72.53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83.75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80.44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4.29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3.29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913513"/>
                  </a:ext>
                </a:extLst>
              </a:tr>
              <a:tr h="2197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9" marR="91439" marT="45802" marB="45802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8" marR="91438" marT="45713" marB="457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_1st wf</a:t>
                      </a:r>
                      <a:endParaRPr kumimoji="1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돋움" panose="020B0600000101010101" pitchFamily="50" charset="-127"/>
                          <a:cs typeface="+mn-cs"/>
                        </a:rPr>
                        <a:t>Pass/Fail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74.70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74.70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74.76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76.57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73.01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73.01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76.57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79.18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2.45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10.05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86596"/>
                  </a:ext>
                </a:extLst>
              </a:tr>
              <a:tr h="1659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_2nd wf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돋움" panose="020B0600000101010101" pitchFamily="50" charset="-127"/>
                          <a:cs typeface="+mn-cs"/>
                        </a:rPr>
                        <a:t>Pass/Fail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72.70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70.29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74.42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74.42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81.38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70.29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81.38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76.31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1.71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ctr" defTabSz="914400" rtl="0" eaLnBrk="0" fontAlgn="auto" latinLnBrk="0" hangingPunct="0">
                        <a:lnSpc>
                          <a:spcPct val="7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17.62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Tahoma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89593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7689304" y="1192641"/>
            <a:ext cx="1296144" cy="954280"/>
          </a:xfrm>
          <a:prstGeom prst="rect">
            <a:avLst/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573888" y="836712"/>
            <a:ext cx="1843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rebuchet MS" panose="020B0603020202020204" pitchFamily="34" charset="0"/>
              </a:rPr>
              <a:t>※ Raw </a:t>
            </a:r>
            <a:r>
              <a:rPr lang="en-US" altLang="ko-KR" sz="1200">
                <a:latin typeface="Trebuchet MS" panose="020B0603020202020204" pitchFamily="34" charset="0"/>
              </a:rPr>
              <a:t>Data (</a:t>
            </a:r>
            <a:r>
              <a:rPr lang="ko-KR" altLang="en-US" sz="1200">
                <a:latin typeface="Trebuchet MS" panose="020B0603020202020204" pitchFamily="34" charset="0"/>
              </a:rPr>
              <a:t>참고</a:t>
            </a:r>
            <a:r>
              <a:rPr lang="en-US" altLang="ko-KR" sz="1200">
                <a:latin typeface="Trebuchet MS" panose="020B0603020202020204" pitchFamily="34" charset="0"/>
              </a:rPr>
              <a:t>)</a:t>
            </a:r>
            <a:endParaRPr lang="ko-KR" altLang="en-US" sz="1200" dirty="0">
              <a:latin typeface="Trebuchet MS" panose="020B0603020202020204" pitchFamily="34" charset="0"/>
            </a:endParaRPr>
          </a:p>
        </p:txBody>
      </p:sp>
      <p:sp>
        <p:nvSpPr>
          <p:cNvPr id="20" name="직사각형 4"/>
          <p:cNvSpPr>
            <a:spLocks noChangeArrowheads="1"/>
          </p:cNvSpPr>
          <p:nvPr/>
        </p:nvSpPr>
        <p:spPr bwMode="auto">
          <a:xfrm>
            <a:off x="10410" y="14304"/>
            <a:ext cx="7507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defTabSz="457200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0000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Arial" pitchFamily="34" charset="0"/>
              </a:rPr>
              <a:t>SATURN Project _ DOE Report</a:t>
            </a:r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332805"/>
              </p:ext>
            </p:extLst>
          </p:nvPr>
        </p:nvGraphicFramePr>
        <p:xfrm>
          <a:off x="7880176" y="1382071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워크시트" showAsIcon="1" r:id="rId2" imgW="914400" imgH="806400" progId="Excel.Sheet.12">
                  <p:embed/>
                </p:oleObj>
              </mc:Choice>
              <mc:Fallback>
                <p:oleObj name="워크시트" showAsIcon="1" r:id="rId2" imgW="914400" imgH="806400" progId="Excel.Sheet.12">
                  <p:embed/>
                  <p:pic>
                    <p:nvPicPr>
                      <p:cNvPr id="3" name="개체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80176" y="1382071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1CC654EE-2EDF-A2A2-9396-26A2206C3FA6}"/>
              </a:ext>
            </a:extLst>
          </p:cNvPr>
          <p:cNvSpPr/>
          <p:nvPr/>
        </p:nvSpPr>
        <p:spPr>
          <a:xfrm>
            <a:off x="6393160" y="4133480"/>
            <a:ext cx="368135" cy="195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2913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836712"/>
            <a:ext cx="9906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52000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200" b="1" dirty="0">
                <a:latin typeface="Trebuchet MS" panose="020B0603020202020204" pitchFamily="34" charset="0"/>
                <a:ea typeface="HY견명조" panose="02030600000101010101" pitchFamily="18" charset="-127"/>
              </a:rPr>
              <a:t>4) Wafer Thickness </a:t>
            </a:r>
          </a:p>
        </p:txBody>
      </p:sp>
      <p:graphicFrame>
        <p:nvGraphicFramePr>
          <p:cNvPr id="13" name="Group 4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451755"/>
              </p:ext>
            </p:extLst>
          </p:nvPr>
        </p:nvGraphicFramePr>
        <p:xfrm>
          <a:off x="272480" y="1196752"/>
          <a:ext cx="9360476" cy="1917374"/>
        </p:xfrm>
        <a:graphic>
          <a:graphicData uri="http://schemas.openxmlformats.org/drawingml/2006/table">
            <a:tbl>
              <a:tblPr/>
              <a:tblGrid>
                <a:gridCol w="621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6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1355">
                  <a:extLst>
                    <a:ext uri="{9D8B030D-6E8A-4147-A177-3AD203B41FA5}">
                      <a16:colId xmlns:a16="http://schemas.microsoft.com/office/drawing/2014/main" val="1643415052"/>
                    </a:ext>
                  </a:extLst>
                </a:gridCol>
                <a:gridCol w="4714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9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9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09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9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094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094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094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094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094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094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094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094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094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4681">
                  <a:extLst>
                    <a:ext uri="{9D8B030D-6E8A-4147-A177-3AD203B41FA5}">
                      <a16:colId xmlns:a16="http://schemas.microsoft.com/office/drawing/2014/main" val="550228110"/>
                    </a:ext>
                  </a:extLst>
                </a:gridCol>
                <a:gridCol w="324681">
                  <a:extLst>
                    <a:ext uri="{9D8B030D-6E8A-4147-A177-3AD203B41FA5}">
                      <a16:colId xmlns:a16="http://schemas.microsoft.com/office/drawing/2014/main" val="899957961"/>
                    </a:ext>
                  </a:extLst>
                </a:gridCol>
                <a:gridCol w="324681">
                  <a:extLst>
                    <a:ext uri="{9D8B030D-6E8A-4147-A177-3AD203B41FA5}">
                      <a16:colId xmlns:a16="http://schemas.microsoft.com/office/drawing/2014/main" val="1925359749"/>
                    </a:ext>
                  </a:extLst>
                </a:gridCol>
                <a:gridCol w="379977">
                  <a:extLst>
                    <a:ext uri="{9D8B030D-6E8A-4147-A177-3AD203B41FA5}">
                      <a16:colId xmlns:a16="http://schemas.microsoft.com/office/drawing/2014/main" val="4275744167"/>
                    </a:ext>
                  </a:extLst>
                </a:gridCol>
                <a:gridCol w="379977">
                  <a:extLst>
                    <a:ext uri="{9D8B030D-6E8A-4147-A177-3AD203B41FA5}">
                      <a16:colId xmlns:a16="http://schemas.microsoft.com/office/drawing/2014/main" val="3510494661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Lot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No</a:t>
                      </a:r>
                    </a:p>
                  </a:txBody>
                  <a:tcPr marT="45643" marB="4564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Spec</a:t>
                      </a:r>
                    </a:p>
                  </a:txBody>
                  <a:tcPr marT="45643" marB="4564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Sample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Size</a:t>
                      </a:r>
                    </a:p>
                  </a:txBody>
                  <a:tcPr marT="45643" marB="4564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Test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Step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T="45643" marB="4564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돋움" panose="020B0600000101010101" pitchFamily="50" charset="-127"/>
                        </a:rPr>
                        <a:t>Result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돋움" panose="020B0600000101010101" pitchFamily="50" charset="-127"/>
                          <a:cs typeface="+mn-cs"/>
                        </a:rPr>
                        <a:t>Data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돋움" panose="020B0600000101010101" pitchFamily="50" charset="-127"/>
                        </a:rPr>
                        <a:t>Min.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돋움" panose="020B0600000101010101" pitchFamily="50" charset="-127"/>
                        </a:rPr>
                        <a:t>Max.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돋움" panose="020B0600000101010101" pitchFamily="50" charset="-127"/>
                        </a:rPr>
                        <a:t>Avg.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돋움" panose="020B0600000101010101" pitchFamily="50" charset="-127"/>
                        </a:rPr>
                        <a:t>Std.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돋움" panose="020B0600000101010101" pitchFamily="50" charset="-127"/>
                        </a:rPr>
                        <a:t>Cpk.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26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DOE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Lot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1" marR="91441" marT="45722" marB="45722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250±10um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(Target :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250um)</a:t>
                      </a:r>
                    </a:p>
                  </a:txBody>
                  <a:tcPr marT="45643" marB="4564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13Points/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Each Wafer</a:t>
                      </a:r>
                    </a:p>
                  </a:txBody>
                  <a:tcPr marT="45643" marB="4564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_1st wf</a:t>
                      </a:r>
                      <a:endParaRPr kumimoji="1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chemeClr val="tx2"/>
                          </a:solidFill>
                          <a:effectLst/>
                          <a:latin typeface="Trebuchet MS" panose="020B0603020202020204" pitchFamily="34" charset="0"/>
                          <a:ea typeface="돋움" panose="020B0600000101010101" pitchFamily="50" charset="-127"/>
                        </a:rPr>
                        <a:t>Pass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252.2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248.7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248.6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252.8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248.6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252.9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248.6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252.9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1.52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2.11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0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_2nd wf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돋움" panose="020B0600000101010101" pitchFamily="50" charset="-127"/>
                          <a:cs typeface="+mn-cs"/>
                        </a:rPr>
                        <a:t>Pass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248.3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0.9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2.81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390168"/>
                  </a:ext>
                </a:extLst>
              </a:tr>
              <a:tr h="22802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1" marR="91441" marT="45722" marB="45722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T="45643" marB="4564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T="45643" marB="4564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_1st wf</a:t>
                      </a:r>
                      <a:endParaRPr kumimoji="1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돋움" panose="020B0600000101010101" pitchFamily="50" charset="-127"/>
                          <a:cs typeface="+mn-cs"/>
                        </a:rPr>
                        <a:t>Pass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252.1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248.6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242.5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1.12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3.23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964883"/>
                  </a:ext>
                </a:extLst>
              </a:tr>
              <a:tr h="2280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_2nd wf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돋움" panose="020B0600000101010101" pitchFamily="50" charset="-127"/>
                          <a:cs typeface="+mn-cs"/>
                        </a:rPr>
                        <a:t>Pass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252.2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0.49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6.66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078501"/>
                  </a:ext>
                </a:extLst>
              </a:tr>
              <a:tr h="22802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1" marR="91441" marT="45722" marB="45722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T="45643" marB="4564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T="45643" marB="4564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_1st wf</a:t>
                      </a:r>
                      <a:endParaRPr kumimoji="1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돋움" panose="020B0600000101010101" pitchFamily="50" charset="-127"/>
                          <a:cs typeface="+mn-cs"/>
                        </a:rPr>
                        <a:t>Pass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252.2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0.76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4.13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329320"/>
                  </a:ext>
                </a:extLst>
              </a:tr>
              <a:tr h="2280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_2nd wf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돋움" panose="020B0600000101010101" pitchFamily="50" charset="-127"/>
                          <a:cs typeface="+mn-cs"/>
                        </a:rPr>
                        <a:t>Pass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249.7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251.1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50798"/>
                  </a:ext>
                </a:extLst>
              </a:tr>
            </a:tbl>
          </a:graphicData>
        </a:graphic>
      </p:graphicFrame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6059" y="3177757"/>
            <a:ext cx="9906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52000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200" b="1" dirty="0">
                <a:latin typeface="Trebuchet MS" panose="020B0603020202020204" pitchFamily="34" charset="0"/>
                <a:ea typeface="HY견명조" panose="02030600000101010101" pitchFamily="18" charset="-127"/>
              </a:rPr>
              <a:t>5) </a:t>
            </a:r>
            <a:r>
              <a:rPr lang="en-US" altLang="ko-KR" sz="1200" b="1">
                <a:latin typeface="Trebuchet MS" panose="020B0603020202020204" pitchFamily="34" charset="0"/>
                <a:ea typeface="HY견명조" panose="02030600000101010101" pitchFamily="18" charset="-127"/>
              </a:rPr>
              <a:t>Wafer TTV (Total Thickness Variation) </a:t>
            </a:r>
            <a:r>
              <a:rPr lang="en-US" altLang="ko-KR" sz="1200" b="1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– Wafer 1</a:t>
            </a:r>
            <a:r>
              <a:rPr lang="ko-KR" altLang="en-US" sz="1200" b="1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매의 두께 오차</a:t>
            </a:r>
            <a:r>
              <a:rPr lang="en-US" altLang="ko-KR" sz="1200" b="1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(</a:t>
            </a:r>
            <a:r>
              <a:rPr lang="ko-KR" altLang="en-US" sz="1200" b="1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평탄도</a:t>
            </a:r>
            <a:r>
              <a:rPr lang="en-US" altLang="ko-KR" sz="1200" b="1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) </a:t>
            </a:r>
            <a:endParaRPr lang="en-US" altLang="ko-KR" sz="1200" b="1" dirty="0">
              <a:solidFill>
                <a:srgbClr val="0000FF"/>
              </a:solidFill>
              <a:latin typeface="Trebuchet MS" panose="020B0603020202020204" pitchFamily="34" charset="0"/>
              <a:ea typeface="HY견명조" panose="02030600000101010101" pitchFamily="18" charset="-127"/>
            </a:endParaRPr>
          </a:p>
        </p:txBody>
      </p:sp>
      <p:graphicFrame>
        <p:nvGraphicFramePr>
          <p:cNvPr id="15" name="Group 4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537180"/>
              </p:ext>
            </p:extLst>
          </p:nvPr>
        </p:nvGraphicFramePr>
        <p:xfrm>
          <a:off x="298823" y="3609239"/>
          <a:ext cx="9360472" cy="2089619"/>
        </p:xfrm>
        <a:graphic>
          <a:graphicData uri="http://schemas.openxmlformats.org/drawingml/2006/table">
            <a:tbl>
              <a:tblPr/>
              <a:tblGrid>
                <a:gridCol w="1116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0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14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540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71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Lot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No</a:t>
                      </a:r>
                    </a:p>
                  </a:txBody>
                  <a:tcPr marT="45643" marB="4564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Spec</a:t>
                      </a: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Test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Step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T="45643" marB="4564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Inspection Results</a:t>
                      </a: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762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DOE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Lot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1" marR="91441" marT="45722" marB="45722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12inch : [ Max-Min ] ≤ 10um</a:t>
                      </a: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_1st wf</a:t>
                      </a:r>
                      <a:endParaRPr kumimoji="1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Pass </a:t>
                      </a: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dirty="0"/>
                        <a:t>4.3 um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7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_2nd wf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Pass </a:t>
                      </a: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dirty="0"/>
                        <a:t>3.1 um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313815"/>
                  </a:ext>
                </a:extLst>
              </a:tr>
              <a:tr h="32944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1" marR="91441" marT="45722" marB="45722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_1st wf</a:t>
                      </a:r>
                      <a:endParaRPr kumimoji="1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Pass </a:t>
                      </a: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dirty="0"/>
                        <a:t>8.4 um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819429"/>
                  </a:ext>
                </a:extLst>
              </a:tr>
              <a:tr h="2267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_2nd wf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Pass </a:t>
                      </a: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dirty="0"/>
                        <a:t>2.7 um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276342"/>
                  </a:ext>
                </a:extLst>
              </a:tr>
              <a:tr h="23778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1" marR="91441" marT="45722" marB="45722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_1st wf</a:t>
                      </a:r>
                      <a:endParaRPr kumimoji="1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Pass </a:t>
                      </a: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dirty="0"/>
                        <a:t>4.2 um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4656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_2nd wf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Pass </a:t>
                      </a: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 um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2" marR="91442" marT="45578" marB="45578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222241"/>
                  </a:ext>
                </a:extLst>
              </a:tr>
            </a:tbl>
          </a:graphicData>
        </a:graphic>
      </p:graphicFrame>
      <p:sp>
        <p:nvSpPr>
          <p:cNvPr id="8" name="Text Box 4" descr="흰색 대리석"/>
          <p:cNvSpPr txBox="1">
            <a:spLocks noChangeArrowheads="1"/>
          </p:cNvSpPr>
          <p:nvPr/>
        </p:nvSpPr>
        <p:spPr bwMode="auto">
          <a:xfrm>
            <a:off x="0" y="547787"/>
            <a:ext cx="99060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6000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400" b="1" dirty="0">
                <a:latin typeface="Trebuchet MS" panose="020B0603020202020204" pitchFamily="34" charset="0"/>
                <a:ea typeface="HY견명조" panose="02030600000101010101" pitchFamily="18" charset="-127"/>
              </a:rPr>
              <a:t>1. Back Grind Process Condition &amp; Result</a:t>
            </a:r>
            <a:endParaRPr lang="en-US" altLang="ko-KR" sz="1400" b="1" dirty="0">
              <a:solidFill>
                <a:srgbClr val="0000FF"/>
              </a:solidFill>
              <a:latin typeface="Trebuchet MS" panose="020B0603020202020204" pitchFamily="34" charset="0"/>
              <a:ea typeface="HY견명조" panose="02030600000101010101" pitchFamily="18" charset="-127"/>
            </a:endParaRPr>
          </a:p>
        </p:txBody>
      </p:sp>
      <p:sp>
        <p:nvSpPr>
          <p:cNvPr id="11" name="직사각형 4"/>
          <p:cNvSpPr>
            <a:spLocks noChangeArrowheads="1"/>
          </p:cNvSpPr>
          <p:nvPr/>
        </p:nvSpPr>
        <p:spPr bwMode="auto">
          <a:xfrm>
            <a:off x="10410" y="14304"/>
            <a:ext cx="7507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defTabSz="457200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0000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Arial" pitchFamily="34" charset="0"/>
              </a:rPr>
              <a:t>SATURN Project _ DOE Report</a:t>
            </a:r>
          </a:p>
        </p:txBody>
      </p:sp>
    </p:spTree>
    <p:extLst>
      <p:ext uri="{BB962C8B-B14F-4D97-AF65-F5344CB8AC3E}">
        <p14:creationId xmlns:p14="http://schemas.microsoft.com/office/powerpoint/2010/main" val="437223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0" y="2984233"/>
            <a:ext cx="9905999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520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200" b="1" dirty="0">
                <a:latin typeface="Trebuchet MS" panose="020B0603020202020204" pitchFamily="34" charset="0"/>
                <a:ea typeface="HY견명조" panose="02030600000101010101" pitchFamily="18" charset="-127"/>
              </a:rPr>
              <a:t>2) Visual </a:t>
            </a:r>
            <a:r>
              <a:rPr lang="en-US" altLang="ko-KR" sz="1200" b="1">
                <a:latin typeface="Trebuchet MS" panose="020B0603020202020204" pitchFamily="34" charset="0"/>
                <a:ea typeface="HY견명조" panose="02030600000101010101" pitchFamily="18" charset="-127"/>
              </a:rPr>
              <a:t>Inspection Result </a:t>
            </a:r>
            <a:r>
              <a:rPr lang="en-US" altLang="ko-KR" sz="1200" b="1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(9Page </a:t>
            </a:r>
            <a:r>
              <a:rPr lang="ko-KR" altLang="en-US" sz="1200" b="1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참조 </a:t>
            </a:r>
            <a:r>
              <a:rPr lang="en-US" altLang="ko-KR" sz="1200" b="1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/ Visual </a:t>
            </a:r>
            <a:r>
              <a:rPr lang="ko-KR" altLang="en-US" sz="1200" b="1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결과는 특이사항 없는 것으로 함</a:t>
            </a:r>
            <a:r>
              <a:rPr lang="en-US" altLang="ko-KR" sz="1200" b="1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) </a:t>
            </a:r>
            <a:endParaRPr lang="en-US" altLang="ko-KR" sz="1200" b="1" dirty="0">
              <a:latin typeface="Trebuchet MS" panose="020B0603020202020204" pitchFamily="34" charset="0"/>
              <a:ea typeface="HY견명조" panose="02030600000101010101" pitchFamily="18" charset="-127"/>
            </a:endParaRPr>
          </a:p>
        </p:txBody>
      </p:sp>
      <p:graphicFrame>
        <p:nvGraphicFramePr>
          <p:cNvPr id="14" name="Group 2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937053"/>
              </p:ext>
            </p:extLst>
          </p:nvPr>
        </p:nvGraphicFramePr>
        <p:xfrm>
          <a:off x="273050" y="3272265"/>
          <a:ext cx="9359899" cy="545306"/>
        </p:xfrm>
        <a:graphic>
          <a:graphicData uri="http://schemas.openxmlformats.org/drawingml/2006/table">
            <a:tbl>
              <a:tblPr/>
              <a:tblGrid>
                <a:gridCol w="1918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25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26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Item</a:t>
                      </a:r>
                    </a:p>
                  </a:txBody>
                  <a:tcPr marL="91435" marR="91435" marT="45702" marB="45702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Lot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No</a:t>
                      </a:r>
                    </a:p>
                  </a:txBody>
                  <a:tcPr marL="91435" marR="91435" marT="45702" marB="45702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Sample Size</a:t>
                      </a:r>
                    </a:p>
                  </a:txBody>
                  <a:tcPr marL="91435" marR="91435" marT="45702" marB="45702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Inspection Results</a:t>
                      </a:r>
                    </a:p>
                  </a:txBody>
                  <a:tcPr marL="91435" marR="91435" marT="45702" marB="45702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Visual Inspection</a:t>
                      </a:r>
                    </a:p>
                  </a:txBody>
                  <a:tcPr marL="91435" marR="91435" marT="45702" marB="45702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DOE Lot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5" marR="91435" marT="45743" marB="4574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wafer / each evaluation</a:t>
                      </a:r>
                    </a:p>
                  </a:txBody>
                  <a:tcPr marL="91438" marR="91438" marT="45715" marB="45715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Pass / Fail</a:t>
                      </a:r>
                    </a:p>
                  </a:txBody>
                  <a:tcPr marL="91438" marR="91438" marT="45715" marB="45715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wafer / each evaluation</a:t>
                      </a:r>
                    </a:p>
                  </a:txBody>
                  <a:tcPr marL="91438" marR="91438" marT="45715" marB="45715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Group 4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496890"/>
              </p:ext>
            </p:extLst>
          </p:nvPr>
        </p:nvGraphicFramePr>
        <p:xfrm>
          <a:off x="273050" y="1063469"/>
          <a:ext cx="9359899" cy="1833377"/>
        </p:xfrm>
        <a:graphic>
          <a:graphicData uri="http://schemas.openxmlformats.org/drawingml/2006/table">
            <a:tbl>
              <a:tblPr/>
              <a:tblGrid>
                <a:gridCol w="215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5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3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82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Item</a:t>
                      </a:r>
                    </a:p>
                  </a:txBody>
                  <a:tcPr marL="91436" marR="91436" marT="45697" marB="4569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Spec</a:t>
                      </a:r>
                    </a:p>
                  </a:txBody>
                  <a:tcPr marL="91436" marR="91436" marT="45697" marB="4569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Applied Condition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6" marR="91436" marT="45697" marB="4569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Remark</a:t>
                      </a:r>
                    </a:p>
                  </a:txBody>
                  <a:tcPr marL="91436" marR="91436" marT="45697" marB="4569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Cut Method</a:t>
                      </a:r>
                    </a:p>
                  </a:txBody>
                  <a:tcPr marL="91439" marR="91439" marT="45689" marB="45689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Wafer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 특성에 따름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9" marR="91439" marT="45689" marB="45689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Step Cut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9" marR="91439" marT="45689" marB="45689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91436" marR="91436" marT="45697" marB="45697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607116"/>
                  </a:ext>
                </a:extLst>
              </a:tr>
              <a:tr h="337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Blade Model</a:t>
                      </a:r>
                    </a:p>
                  </a:txBody>
                  <a:tcPr marL="91439" marR="91439" marT="45689" marB="45689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Wafer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 특성에 따름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9" marR="91439" marT="45689" marB="45689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Z1 : SD3500-N1-50-CE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Z2 : SD3500-N1-50-FD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9" marR="91439" marT="45689" marB="45689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91436" marR="91436" marT="45697" marB="45697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Cut Speed (Step Cut)</a:t>
                      </a:r>
                    </a:p>
                  </a:txBody>
                  <a:tcPr marL="91439" marR="91439" marT="45689" marB="45689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Max 80mm/sec</a:t>
                      </a:r>
                    </a:p>
                  </a:txBody>
                  <a:tcPr marL="91439" marR="91439" marT="45689" marB="45689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dirty="0"/>
                        <a:t>60 mm/sec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9" marR="91439" marT="45689" marB="45689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dirty="0"/>
                        <a:t>규격 만족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6" marR="91436" marT="45697" marB="45697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Spindle RPM</a:t>
                      </a:r>
                    </a:p>
                  </a:txBody>
                  <a:tcPr marL="91439" marR="91439" marT="45689" marB="45689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30000~55000 RPM</a:t>
                      </a:r>
                    </a:p>
                  </a:txBody>
                  <a:tcPr marL="91439" marR="91439" marT="45689" marB="45689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l-PL" altLang="ko-KR" sz="1000" dirty="0"/>
                        <a:t>Z1 : 50,000 / Z2 : 40,000 RPM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9" marR="91439" marT="45689" marB="45689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dirty="0"/>
                        <a:t>규격 만족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6" marR="91436" marT="45697" marB="45697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83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Blade Height (Z1 / Z2)</a:t>
                      </a:r>
                    </a:p>
                  </a:txBody>
                  <a:tcPr marL="91439" marR="91439" marT="45689" marB="45689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Wafer + Mount Tape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특성에 따름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9" marR="91439" marT="45689" marB="45689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l-PL" altLang="ko-KR" sz="1000" dirty="0"/>
                        <a:t>Z1 : 0.240 mm / Z2 : 0.080 mm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9" marR="91439" marT="45689" marB="45689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72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6" marR="91436" marT="45697" marB="45697"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0" y="836712"/>
            <a:ext cx="9905999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520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200" b="1" dirty="0">
                <a:latin typeface="Trebuchet MS" panose="020B0603020202020204" pitchFamily="34" charset="0"/>
                <a:ea typeface="HY견명조" panose="02030600000101010101" pitchFamily="18" charset="-127"/>
              </a:rPr>
              <a:t>1) Process Condition</a:t>
            </a:r>
          </a:p>
        </p:txBody>
      </p:sp>
      <p:sp>
        <p:nvSpPr>
          <p:cNvPr id="17" name="Text Box 4" descr="흰색 대리석"/>
          <p:cNvSpPr txBox="1">
            <a:spLocks noChangeArrowheads="1"/>
          </p:cNvSpPr>
          <p:nvPr/>
        </p:nvSpPr>
        <p:spPr bwMode="auto">
          <a:xfrm>
            <a:off x="0" y="548680"/>
            <a:ext cx="9777536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6000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400" b="1" dirty="0">
                <a:latin typeface="Trebuchet MS" panose="020B0603020202020204" pitchFamily="34" charset="0"/>
                <a:ea typeface="HY견명조" panose="02030600000101010101" pitchFamily="18" charset="-127"/>
              </a:rPr>
              <a:t>2. Saw Process Condition &amp; Result</a:t>
            </a:r>
            <a:endParaRPr lang="en-US" altLang="ko-KR" sz="1400" b="1" dirty="0">
              <a:solidFill>
                <a:srgbClr val="0000FF"/>
              </a:solidFill>
              <a:latin typeface="Trebuchet MS" panose="020B0603020202020204" pitchFamily="34" charset="0"/>
              <a:ea typeface="HY견명조" panose="02030600000101010101" pitchFamily="18" charset="-127"/>
            </a:endParaRP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0" y="3992345"/>
            <a:ext cx="9906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52000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200" b="1" dirty="0">
                <a:latin typeface="Trebuchet MS" panose="020B0603020202020204" pitchFamily="34" charset="0"/>
                <a:ea typeface="HY견명조" panose="02030600000101010101" pitchFamily="18" charset="-127"/>
              </a:rPr>
              <a:t>3) Kerf Width </a:t>
            </a:r>
          </a:p>
        </p:txBody>
      </p:sp>
      <p:graphicFrame>
        <p:nvGraphicFramePr>
          <p:cNvPr id="19" name="Group 4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756903"/>
              </p:ext>
            </p:extLst>
          </p:nvPr>
        </p:nvGraphicFramePr>
        <p:xfrm>
          <a:off x="273045" y="4266980"/>
          <a:ext cx="9359904" cy="1754310"/>
        </p:xfrm>
        <a:graphic>
          <a:graphicData uri="http://schemas.openxmlformats.org/drawingml/2006/table">
            <a:tbl>
              <a:tblPr/>
              <a:tblGrid>
                <a:gridCol w="703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899">
                  <a:extLst>
                    <a:ext uri="{9D8B030D-6E8A-4147-A177-3AD203B41FA5}">
                      <a16:colId xmlns:a16="http://schemas.microsoft.com/office/drawing/2014/main" val="417330428"/>
                    </a:ext>
                  </a:extLst>
                </a:gridCol>
                <a:gridCol w="610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69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69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69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69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69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69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692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692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692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692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3048">
                  <a:extLst>
                    <a:ext uri="{9D8B030D-6E8A-4147-A177-3AD203B41FA5}">
                      <a16:colId xmlns:a16="http://schemas.microsoft.com/office/drawing/2014/main" val="306345333"/>
                    </a:ext>
                  </a:extLst>
                </a:gridCol>
                <a:gridCol w="501636">
                  <a:extLst>
                    <a:ext uri="{9D8B030D-6E8A-4147-A177-3AD203B41FA5}">
                      <a16:colId xmlns:a16="http://schemas.microsoft.com/office/drawing/2014/main" val="560460991"/>
                    </a:ext>
                  </a:extLst>
                </a:gridCol>
                <a:gridCol w="467872">
                  <a:extLst>
                    <a:ext uri="{9D8B030D-6E8A-4147-A177-3AD203B41FA5}">
                      <a16:colId xmlns:a16="http://schemas.microsoft.com/office/drawing/2014/main" val="280432954"/>
                    </a:ext>
                  </a:extLst>
                </a:gridCol>
                <a:gridCol w="450992">
                  <a:extLst>
                    <a:ext uri="{9D8B030D-6E8A-4147-A177-3AD203B41FA5}">
                      <a16:colId xmlns:a16="http://schemas.microsoft.com/office/drawing/2014/main" val="328222803"/>
                    </a:ext>
                  </a:extLst>
                </a:gridCol>
                <a:gridCol w="450992">
                  <a:extLst>
                    <a:ext uri="{9D8B030D-6E8A-4147-A177-3AD203B41FA5}">
                      <a16:colId xmlns:a16="http://schemas.microsoft.com/office/drawing/2014/main" val="4115942910"/>
                    </a:ext>
                  </a:extLst>
                </a:gridCol>
              </a:tblGrid>
              <a:tr h="512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Lot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No</a:t>
                      </a:r>
                    </a:p>
                  </a:txBody>
                  <a:tcPr marL="91433" marR="91433" marT="45676" marB="4567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Spec</a:t>
                      </a:r>
                    </a:p>
                  </a:txBody>
                  <a:tcPr marL="91433" marR="91433" marT="45676" marB="4567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Sample Size</a:t>
                      </a:r>
                    </a:p>
                  </a:txBody>
                  <a:tcPr marL="91433" marR="91433" marT="45676" marB="4567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Test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Step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T="45643" marB="4564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Result</a:t>
                      </a:r>
                    </a:p>
                  </a:txBody>
                  <a:tcPr marL="91433" marR="91433" marT="45676" marB="4567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Data</a:t>
                      </a: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91433" marR="91433" marT="45676" marB="4567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돋움" panose="020B0600000101010101" pitchFamily="50" charset="-127"/>
                        </a:rPr>
                        <a:t>Min.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돋움" panose="020B0600000101010101" pitchFamily="50" charset="-127"/>
                        </a:rPr>
                        <a:t>Max.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돋움" panose="020B0600000101010101" pitchFamily="50" charset="-127"/>
                        </a:rPr>
                        <a:t>Avg.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돋움" panose="020B0600000101010101" pitchFamily="50" charset="-127"/>
                        </a:rPr>
                        <a:t>Std.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돋움" panose="020B0600000101010101" pitchFamily="50" charset="-127"/>
                        </a:rPr>
                        <a:t>Cpk.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978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DOE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Lot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4" marR="91434" marT="45765" marB="45765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Max 65um</a:t>
                      </a:r>
                    </a:p>
                  </a:txBody>
                  <a:tcPr marL="91425" marR="91425" marT="45681" marB="456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10Points/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Each Wafer</a:t>
                      </a:r>
                    </a:p>
                  </a:txBody>
                  <a:tcPr marL="91425" marR="91425" marT="45681" marB="456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_1st wf</a:t>
                      </a:r>
                      <a:endParaRPr kumimoji="1" 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chemeClr val="tx2"/>
                          </a:solidFill>
                          <a:effectLst/>
                          <a:latin typeface="Trebuchet MS" panose="020B0603020202020204" pitchFamily="34" charset="0"/>
                          <a:ea typeface="돋움" panose="020B0600000101010101" pitchFamily="50" charset="-127"/>
                        </a:rPr>
                        <a:t>Pass/Fail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64.9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63.3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62.3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61.8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63.5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60.5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60.5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64.3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62.5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64.9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62.34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1.71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0.52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9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9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_2nd wf</a:t>
                      </a:r>
                      <a:endParaRPr kumimoji="1" lang="en-US" altLang="ko-K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돋움" panose="020B0600000101010101" pitchFamily="50" charset="-127"/>
                          <a:cs typeface="+mn-cs"/>
                        </a:rPr>
                        <a:t>Pass/Fail</a:t>
                      </a:r>
                      <a:endParaRPr lang="en-US" sz="900" b="0" i="0" u="none" strike="noStrike" dirty="0">
                        <a:solidFill>
                          <a:schemeClr val="tx2"/>
                        </a:solidFill>
                        <a:effectLst/>
                        <a:latin typeface="Trebuchet MS" panose="020B0603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60.2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60.9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60.4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60.1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60.9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63.3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64.3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61.6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64.3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61.04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1.61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0.81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017002"/>
                  </a:ext>
                </a:extLst>
              </a:tr>
              <a:tr h="2069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4" marR="91434" marT="45765" marB="45765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25" marR="91425" marT="45681" marB="456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25" marR="91425" marT="45681" marB="456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_1st wf</a:t>
                      </a:r>
                      <a:endParaRPr kumimoji="1" 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돋움" panose="020B0600000101010101" pitchFamily="50" charset="-127"/>
                          <a:cs typeface="+mn-cs"/>
                        </a:rPr>
                        <a:t>Pass/Fail</a:t>
                      </a:r>
                      <a:endParaRPr lang="en-US" sz="900" b="0" i="0" u="none" strike="noStrike" dirty="0">
                        <a:solidFill>
                          <a:schemeClr val="tx2"/>
                        </a:solidFill>
                        <a:effectLst/>
                        <a:latin typeface="Trebuchet MS" panose="020B0603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62.7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62.4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60.4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63.9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63.8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62.3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63.8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61.34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1.87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0.65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248729"/>
                  </a:ext>
                </a:extLst>
              </a:tr>
              <a:tr h="2069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9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9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_2nd wf</a:t>
                      </a:r>
                      <a:endParaRPr kumimoji="1" lang="en-US" altLang="ko-K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돋움" panose="020B0600000101010101" pitchFamily="50" charset="-127"/>
                          <a:cs typeface="+mn-cs"/>
                        </a:rPr>
                        <a:t>Pass/Fail</a:t>
                      </a:r>
                      <a:endParaRPr lang="en-US" sz="900" b="0" i="0" u="none" strike="noStrike" dirty="0">
                        <a:solidFill>
                          <a:schemeClr val="tx2"/>
                        </a:solidFill>
                        <a:effectLst/>
                        <a:latin typeface="Trebuchet MS" panose="020B0603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61.2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60.5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60.8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61.5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60.1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62.3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62.8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63.6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63.6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61.18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1.38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0.92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864387"/>
                  </a:ext>
                </a:extLst>
              </a:tr>
              <a:tr h="2069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34" marR="91434" marT="45765" marB="45765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25" marR="91425" marT="45681" marB="456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25" marR="91425" marT="45681" marB="456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_1st wf</a:t>
                      </a:r>
                      <a:endParaRPr kumimoji="1" 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돋움" panose="020B0600000101010101" pitchFamily="50" charset="-127"/>
                          <a:cs typeface="+mn-cs"/>
                        </a:rPr>
                        <a:t>Pass/Fail</a:t>
                      </a:r>
                      <a:endParaRPr lang="en-US" sz="900" b="0" i="0" u="none" strike="noStrike" dirty="0">
                        <a:solidFill>
                          <a:schemeClr val="tx2"/>
                        </a:solidFill>
                        <a:effectLst/>
                        <a:latin typeface="Trebuchet MS" panose="020B0603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60.6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62.3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62.5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62.5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61.1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61.27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1.21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1.02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431493"/>
                  </a:ext>
                </a:extLst>
              </a:tr>
              <a:tr h="2069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9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차</a:t>
                      </a:r>
                      <a:r>
                        <a:rPr kumimoji="1" lang="en-US" altLang="ko-KR" sz="9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_2nd wf</a:t>
                      </a:r>
                      <a:endParaRPr kumimoji="1" lang="en-US" altLang="ko-K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돋움" panose="020B0600000101010101" pitchFamily="50" charset="-127"/>
                          <a:cs typeface="+mn-cs"/>
                        </a:rPr>
                        <a:t>Pass/Fail</a:t>
                      </a:r>
                      <a:endParaRPr lang="en-US" sz="900" b="0" i="0" u="none" strike="noStrike" dirty="0">
                        <a:solidFill>
                          <a:schemeClr val="tx2"/>
                        </a:solidFill>
                        <a:effectLst/>
                        <a:latin typeface="Trebuchet MS" panose="020B0603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60.3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64.2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63.4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61.1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60.9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64.6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61.3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61.7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61.8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64.6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61.83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1.76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0.6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249366"/>
                  </a:ext>
                </a:extLst>
              </a:tr>
            </a:tbl>
          </a:graphicData>
        </a:graphic>
      </p:graphicFrame>
      <p:sp>
        <p:nvSpPr>
          <p:cNvPr id="20" name="직사각형 4"/>
          <p:cNvSpPr>
            <a:spLocks noChangeArrowheads="1"/>
          </p:cNvSpPr>
          <p:nvPr/>
        </p:nvSpPr>
        <p:spPr bwMode="auto">
          <a:xfrm>
            <a:off x="10410" y="14304"/>
            <a:ext cx="7507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defTabSz="457200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0000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Arial" pitchFamily="34" charset="0"/>
              </a:rPr>
              <a:t>SATURN Project _ DOE Report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9AF63463-58FD-D8EC-24A4-EDBB97A9D9D2}"/>
              </a:ext>
            </a:extLst>
          </p:cNvPr>
          <p:cNvSpPr/>
          <p:nvPr/>
        </p:nvSpPr>
        <p:spPr>
          <a:xfrm>
            <a:off x="6537176" y="3608254"/>
            <a:ext cx="368135" cy="195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5942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8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710717"/>
              </p:ext>
            </p:extLst>
          </p:nvPr>
        </p:nvGraphicFramePr>
        <p:xfrm>
          <a:off x="273052" y="1412775"/>
          <a:ext cx="9360468" cy="4896545"/>
        </p:xfrm>
        <a:graphic>
          <a:graphicData uri="http://schemas.openxmlformats.org/drawingml/2006/table">
            <a:tbl>
              <a:tblPr/>
              <a:tblGrid>
                <a:gridCol w="1391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9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5047">
                  <a:extLst>
                    <a:ext uri="{9D8B030D-6E8A-4147-A177-3AD203B41FA5}">
                      <a16:colId xmlns:a16="http://schemas.microsoft.com/office/drawing/2014/main" val="4208911648"/>
                    </a:ext>
                  </a:extLst>
                </a:gridCol>
                <a:gridCol w="4104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25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Sample</a:t>
                      </a:r>
                    </a:p>
                  </a:txBody>
                  <a:tcPr marL="36006" marR="36006" marT="35981" marB="359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Result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36006" marR="36006" marT="35981" marB="359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Top Image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36006" marR="36006" marT="35981" marB="359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Side Image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36006" marR="36006" marT="35981" marB="359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6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1</a:t>
                      </a:r>
                      <a:r>
                        <a:rPr kumimoji="1" lang="en-US" altLang="ko-KR" sz="1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St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4" marR="91444" marT="45736" marB="4573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Pass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36006" marR="36006" marT="35981" marB="359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36006" marR="36006" marT="35981" marB="359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36006" marR="36006" marT="35981" marB="359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6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2</a:t>
                      </a:r>
                      <a:r>
                        <a:rPr kumimoji="1" lang="en-US" altLang="ko-KR" sz="1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nd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4" marR="91444" marT="45736" marB="4573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Pass</a:t>
                      </a:r>
                      <a:endParaRPr kumimoji="1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36006" marR="36006" marT="35981" marB="359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36006" marR="36006" marT="35981" marB="359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36006" marR="36006" marT="35981" marB="359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6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3</a:t>
                      </a:r>
                      <a:r>
                        <a:rPr kumimoji="1" lang="en-US" altLang="ko-KR" sz="1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HY견명조" panose="02030600000101010101" pitchFamily="18" charset="-127"/>
                        </a:rPr>
                        <a:t>rd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91444" marR="91444" marT="45736" marB="4573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HY견명조" panose="02030600000101010101" pitchFamily="18" charset="-127"/>
                          <a:cs typeface="+mn-cs"/>
                        </a:rPr>
                        <a:t>Pass</a:t>
                      </a:r>
                      <a:endParaRPr kumimoji="1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HY견명조" panose="02030600000101010101" pitchFamily="18" charset="-127"/>
                        <a:cs typeface="+mn-cs"/>
                      </a:endParaRPr>
                    </a:p>
                  </a:txBody>
                  <a:tcPr marL="36006" marR="36006" marT="35981" marB="359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36006" marR="36006" marT="35981" marB="359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  <a:ea typeface="HY견명조" panose="02030600000101010101" pitchFamily="18" charset="-127"/>
                      </a:endParaRPr>
                    </a:p>
                  </a:txBody>
                  <a:tcPr marL="36006" marR="36006" marT="35981" marB="3598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868336"/>
                  </a:ext>
                </a:extLst>
              </a:tr>
            </a:tbl>
          </a:graphicData>
        </a:graphic>
      </p:graphicFrame>
      <p:sp>
        <p:nvSpPr>
          <p:cNvPr id="12291" name="Text Box 88"/>
          <p:cNvSpPr txBox="1">
            <a:spLocks noChangeArrowheads="1"/>
          </p:cNvSpPr>
          <p:nvPr/>
        </p:nvSpPr>
        <p:spPr bwMode="auto">
          <a:xfrm>
            <a:off x="-2300" y="836712"/>
            <a:ext cx="9906000" cy="274637"/>
          </a:xfrm>
          <a:prstGeom prst="rect">
            <a:avLst/>
          </a:prstGeom>
          <a:noFill/>
          <a:ln>
            <a:noFill/>
          </a:ln>
        </p:spPr>
        <p:txBody>
          <a:bodyPr wrap="square" lIns="252000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200" b="1" dirty="0">
                <a:latin typeface="Trebuchet MS" panose="020B0603020202020204" pitchFamily="34" charset="0"/>
                <a:ea typeface="HY견명조" panose="02030600000101010101" pitchFamily="18" charset="-127"/>
              </a:rPr>
              <a:t>5) Image</a:t>
            </a:r>
          </a:p>
        </p:txBody>
      </p:sp>
      <p:sp>
        <p:nvSpPr>
          <p:cNvPr id="15" name="Text Box 4" descr="흰색 대리석"/>
          <p:cNvSpPr txBox="1">
            <a:spLocks noChangeArrowheads="1"/>
          </p:cNvSpPr>
          <p:nvPr/>
        </p:nvSpPr>
        <p:spPr bwMode="auto">
          <a:xfrm>
            <a:off x="0" y="547787"/>
            <a:ext cx="9906000" cy="288925"/>
          </a:xfrm>
          <a:prstGeom prst="rect">
            <a:avLst/>
          </a:prstGeom>
          <a:noFill/>
          <a:ln>
            <a:noFill/>
          </a:ln>
        </p:spPr>
        <p:txBody>
          <a:bodyPr wrap="none" lIns="216000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n-US" altLang="ko-KR" sz="1400" b="1" dirty="0">
                <a:latin typeface="Trebuchet MS" panose="020B0603020202020204" pitchFamily="34" charset="0"/>
                <a:ea typeface="HY견명조" panose="02030600000101010101" pitchFamily="18" charset="-127"/>
              </a:rPr>
              <a:t>3. Saw Process Result</a:t>
            </a:r>
          </a:p>
        </p:txBody>
      </p:sp>
      <p:sp>
        <p:nvSpPr>
          <p:cNvPr id="21" name="Text Box 88"/>
          <p:cNvSpPr txBox="1">
            <a:spLocks noChangeArrowheads="1"/>
          </p:cNvSpPr>
          <p:nvPr/>
        </p:nvSpPr>
        <p:spPr bwMode="auto">
          <a:xfrm>
            <a:off x="226101" y="1093061"/>
            <a:ext cx="9906000" cy="274637"/>
          </a:xfrm>
          <a:prstGeom prst="rect">
            <a:avLst/>
          </a:prstGeom>
          <a:noFill/>
          <a:ln>
            <a:noFill/>
          </a:ln>
        </p:spPr>
        <p:txBody>
          <a:bodyPr wrap="square" lIns="252000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200" b="1">
                <a:latin typeface="Trebuchet MS" panose="020B0603020202020204" pitchFamily="34" charset="0"/>
                <a:ea typeface="HY견명조" panose="02030600000101010101" pitchFamily="18" charset="-127"/>
                <a:sym typeface="Wingdings" panose="05000000000000000000" pitchFamily="2" charset="2"/>
              </a:rPr>
              <a:t>-. There is no top or back side chipping, lateral crack. Sawing condition is all ok.</a:t>
            </a:r>
            <a:endParaRPr lang="en-US" altLang="ko-KR" sz="1200" b="1" dirty="0">
              <a:latin typeface="Trebuchet MS" panose="020B0603020202020204" pitchFamily="34" charset="0"/>
              <a:ea typeface="HY견명조" panose="02030600000101010101" pitchFamily="18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203" y="2018628"/>
            <a:ext cx="3337620" cy="104399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112" y="3461572"/>
            <a:ext cx="3337620" cy="1154981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112" y="4941168"/>
            <a:ext cx="3337619" cy="113563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89104" y="1982586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Trebuchet MS" panose="020B0603020202020204" pitchFamily="34" charset="0"/>
              </a:rPr>
              <a:t>Pattern Side</a:t>
            </a:r>
            <a:endParaRPr lang="ko-KR" altLang="en-US" sz="16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24203" y="3480907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chemeClr val="bg1"/>
                </a:solidFill>
                <a:latin typeface="Trebuchet MS" panose="020B0603020202020204" pitchFamily="34" charset="0"/>
              </a:rPr>
              <a:t>Pattern </a:t>
            </a:r>
            <a:r>
              <a:rPr lang="en-US" altLang="ko-KR" sz="1600" dirty="0">
                <a:solidFill>
                  <a:schemeClr val="bg1"/>
                </a:solidFill>
                <a:latin typeface="Trebuchet MS" panose="020B0603020202020204" pitchFamily="34" charset="0"/>
              </a:rPr>
              <a:t>Side</a:t>
            </a:r>
            <a:endParaRPr lang="ko-KR" altLang="en-US" sz="16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11091" y="4957849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chemeClr val="bg1"/>
                </a:solidFill>
                <a:latin typeface="Trebuchet MS" panose="020B0603020202020204" pitchFamily="34" charset="0"/>
              </a:rPr>
              <a:t>Pattern </a:t>
            </a:r>
            <a:r>
              <a:rPr lang="en-US" altLang="ko-KR" sz="1600" dirty="0">
                <a:solidFill>
                  <a:schemeClr val="bg1"/>
                </a:solidFill>
                <a:latin typeface="Trebuchet MS" panose="020B0603020202020204" pitchFamily="34" charset="0"/>
              </a:rPr>
              <a:t>Side</a:t>
            </a:r>
            <a:endParaRPr lang="ko-KR" altLang="en-US" sz="16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18" name="직사각형 4"/>
          <p:cNvSpPr>
            <a:spLocks noChangeArrowheads="1"/>
          </p:cNvSpPr>
          <p:nvPr/>
        </p:nvSpPr>
        <p:spPr bwMode="auto">
          <a:xfrm>
            <a:off x="10410" y="14304"/>
            <a:ext cx="7507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defTabSz="457200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0000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Arial" pitchFamily="34" charset="0"/>
              </a:rPr>
              <a:t>SATURN Project _ DOE Report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8-0000-0100-00000B00000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9024" y="1772816"/>
            <a:ext cx="1920000" cy="144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000000-0008-0000-0100-00000400000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3099" y="3293451"/>
            <a:ext cx="1920000" cy="144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D0300D7-FC52-4B77-B0D9-57A2D65FB57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3249024" y="4814086"/>
            <a:ext cx="192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385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4" descr="흰색 대리석"/>
          <p:cNvSpPr txBox="1">
            <a:spLocks noChangeArrowheads="1"/>
          </p:cNvSpPr>
          <p:nvPr/>
        </p:nvSpPr>
        <p:spPr bwMode="auto">
          <a:xfrm>
            <a:off x="0" y="619795"/>
            <a:ext cx="9906000" cy="576957"/>
          </a:xfrm>
          <a:prstGeom prst="rect">
            <a:avLst/>
          </a:prstGeom>
          <a:noFill/>
          <a:ln>
            <a:noFill/>
          </a:ln>
        </p:spPr>
        <p:txBody>
          <a:bodyPr wrap="none" lIns="216000" anchor="t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285750" indent="-28575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앞에서 작성하신 </a:t>
            </a:r>
            <a:r>
              <a:rPr lang="en-US" altLang="ko-KR" sz="1400" b="1" dirty="0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DOE Report </a:t>
            </a:r>
            <a:r>
              <a:rPr lang="ko-KR" altLang="en-US" sz="1400" b="1" dirty="0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를 자세히 훑어보고 멘토가 제공하여 드린 </a:t>
            </a:r>
            <a:r>
              <a:rPr lang="en-US" altLang="ko-KR" sz="1400" b="1" dirty="0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Data </a:t>
            </a:r>
            <a:r>
              <a:rPr lang="ko-KR" altLang="en-US" sz="1400" b="1" dirty="0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중 </a:t>
            </a:r>
            <a:r>
              <a:rPr lang="en-US" altLang="ko-KR" sz="1400" b="1" dirty="0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Engineer Evaluation </a:t>
            </a:r>
            <a:r>
              <a:rPr lang="ko-KR" altLang="en-US" sz="1400" b="1" dirty="0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결과로 </a:t>
            </a:r>
            <a:br>
              <a:rPr lang="en-US" altLang="ko-KR" sz="1400" b="1" dirty="0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</a:br>
            <a:r>
              <a:rPr lang="ko-KR" altLang="en-US" sz="1400" b="1" dirty="0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적합하지 않은 부분을 찾고 그 이유를 기술해 주세요</a:t>
            </a:r>
            <a:r>
              <a:rPr lang="en-US" altLang="ko-KR" sz="1400" b="1" dirty="0">
                <a:solidFill>
                  <a:srgbClr val="0000FF"/>
                </a:solidFill>
                <a:latin typeface="Trebuchet MS" panose="020B0603020202020204" pitchFamily="34" charset="0"/>
                <a:ea typeface="HY견명조" panose="02030600000101010101" pitchFamily="18" charset="-127"/>
              </a:rPr>
              <a:t>. </a:t>
            </a:r>
          </a:p>
        </p:txBody>
      </p:sp>
      <p:sp>
        <p:nvSpPr>
          <p:cNvPr id="18" name="직사각형 4"/>
          <p:cNvSpPr>
            <a:spLocks noChangeArrowheads="1"/>
          </p:cNvSpPr>
          <p:nvPr/>
        </p:nvSpPr>
        <p:spPr bwMode="auto">
          <a:xfrm>
            <a:off x="10410" y="14304"/>
            <a:ext cx="7507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defTabSz="457200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※ </a:t>
            </a:r>
            <a:r>
              <a:rPr kumimoji="0" lang="ko-KR" altLang="en-US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주어진 상황 중 오류 발견하기</a:t>
            </a:r>
            <a:endParaRPr kumimoji="0" lang="en-US" altLang="ko-KR" b="1" dirty="0">
              <a:solidFill>
                <a:srgbClr val="000000"/>
              </a:solidFill>
              <a:latin typeface="Trebuchet MS" panose="020B0603020202020204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C8E3BB-C8F8-BB42-BCB7-2F93FFD89770}"/>
              </a:ext>
            </a:extLst>
          </p:cNvPr>
          <p:cNvSpPr txBox="1"/>
          <p:nvPr/>
        </p:nvSpPr>
        <p:spPr>
          <a:xfrm>
            <a:off x="280256" y="1207255"/>
            <a:ext cx="9345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첫번째 발견된 문제점 </a:t>
            </a:r>
            <a:r>
              <a:rPr lang="en-US" altLang="ko-KR" sz="1600" dirty="0">
                <a:solidFill>
                  <a:srgbClr val="FF0000"/>
                </a:solidFill>
              </a:rPr>
              <a:t>: Back Grind </a:t>
            </a:r>
            <a:r>
              <a:rPr lang="ko-KR" altLang="en-US" sz="1600" dirty="0">
                <a:solidFill>
                  <a:srgbClr val="FF0000"/>
                </a:solidFill>
              </a:rPr>
              <a:t>두께 데이터 중 </a:t>
            </a:r>
            <a:r>
              <a:rPr lang="en-US" altLang="ko-KR" sz="1600" dirty="0">
                <a:solidFill>
                  <a:srgbClr val="FF0000"/>
                </a:solidFill>
              </a:rPr>
              <a:t>2</a:t>
            </a:r>
            <a:r>
              <a:rPr lang="ko-KR" altLang="en-US" sz="1600" dirty="0">
                <a:solidFill>
                  <a:srgbClr val="FF0000"/>
                </a:solidFill>
              </a:rPr>
              <a:t>차</a:t>
            </a:r>
            <a:r>
              <a:rPr lang="en-US" altLang="ko-KR" sz="1600" dirty="0">
                <a:solidFill>
                  <a:srgbClr val="FF0000"/>
                </a:solidFill>
              </a:rPr>
              <a:t>_1st Wafer</a:t>
            </a:r>
            <a:r>
              <a:rPr lang="ko-KR" altLang="en-US" sz="1600" dirty="0">
                <a:solidFill>
                  <a:srgbClr val="FF0000"/>
                </a:solidFill>
              </a:rPr>
              <a:t>의 </a:t>
            </a:r>
            <a:r>
              <a:rPr lang="en-US" altLang="ko-KR" sz="1600" dirty="0">
                <a:solidFill>
                  <a:srgbClr val="FF0000"/>
                </a:solidFill>
              </a:rPr>
              <a:t>2</a:t>
            </a:r>
            <a:r>
              <a:rPr lang="ko-KR" altLang="en-US" sz="1600" dirty="0">
                <a:solidFill>
                  <a:srgbClr val="FF0000"/>
                </a:solidFill>
              </a:rPr>
              <a:t>번 측정 포인트 값이 </a:t>
            </a:r>
            <a:r>
              <a:rPr lang="en-US" altLang="ko-KR" sz="1600" dirty="0">
                <a:solidFill>
                  <a:srgbClr val="FF0000"/>
                </a:solidFill>
              </a:rPr>
              <a:t>222um</a:t>
            </a:r>
            <a:r>
              <a:rPr lang="ko-KR" altLang="en-US" sz="1600" dirty="0">
                <a:solidFill>
                  <a:srgbClr val="FF0000"/>
                </a:solidFill>
              </a:rPr>
              <a:t>로 기재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DEAB62-2D0B-B744-C58D-E40C5B47D861}"/>
              </a:ext>
            </a:extLst>
          </p:cNvPr>
          <p:cNvSpPr txBox="1"/>
          <p:nvPr/>
        </p:nvSpPr>
        <p:spPr>
          <a:xfrm>
            <a:off x="488504" y="1700808"/>
            <a:ext cx="90730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부적합 이유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/>
              <a:t>SATURN </a:t>
            </a:r>
            <a:r>
              <a:rPr lang="ko-KR" altLang="en-US" sz="1600" dirty="0"/>
              <a:t>웨이퍼 두께 </a:t>
            </a:r>
            <a:r>
              <a:rPr lang="en-US" altLang="ko-KR" sz="1600" dirty="0"/>
              <a:t>Spec</a:t>
            </a:r>
            <a:r>
              <a:rPr lang="ko-KR" altLang="en-US" sz="1600" dirty="0"/>
              <a:t>은 </a:t>
            </a:r>
            <a:r>
              <a:rPr lang="en-US" altLang="ko-KR" sz="1600" dirty="0"/>
              <a:t>250 ± 10 um (240 ~ 260 um)</a:t>
            </a:r>
            <a:r>
              <a:rPr lang="ko-KR" altLang="en-US" sz="1600" dirty="0"/>
              <a:t>이므로</a:t>
            </a:r>
            <a:r>
              <a:rPr lang="en-US" altLang="ko-KR" sz="1600" dirty="0"/>
              <a:t>, 222 um</a:t>
            </a:r>
            <a:r>
              <a:rPr lang="ko-KR" altLang="en-US" sz="1600" dirty="0"/>
              <a:t>는 규격 하한을 크게 벗어난 심각한 </a:t>
            </a:r>
            <a:r>
              <a:rPr lang="en-US" altLang="ko-KR" sz="1600" dirty="0"/>
              <a:t>Spec-out(</a:t>
            </a:r>
            <a:r>
              <a:rPr lang="ko-KR" altLang="en-US" sz="1600" dirty="0"/>
              <a:t>불량</a:t>
            </a:r>
            <a:r>
              <a:rPr lang="en-US" altLang="ko-KR" sz="1600" dirty="0"/>
              <a:t>)</a:t>
            </a:r>
            <a:r>
              <a:rPr lang="ko-KR" altLang="en-US" sz="1600" dirty="0"/>
              <a:t>임</a:t>
            </a:r>
            <a:r>
              <a:rPr lang="en-US" altLang="ko-KR" sz="1600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/>
              <a:t>그러나 동일 열의 최소값</a:t>
            </a:r>
            <a:r>
              <a:rPr lang="en-US" altLang="ko-KR" sz="1600" dirty="0"/>
              <a:t>(Min)</a:t>
            </a:r>
            <a:r>
              <a:rPr lang="ko-KR" altLang="en-US" sz="1600" dirty="0"/>
              <a:t>에는 </a:t>
            </a:r>
            <a:r>
              <a:rPr lang="en-US" altLang="ko-KR" sz="1600" dirty="0"/>
              <a:t>242.5 um</a:t>
            </a:r>
            <a:r>
              <a:rPr lang="ko-KR" altLang="en-US" sz="1600" dirty="0"/>
              <a:t>로 잘못 기재되어 있고 판정도 </a:t>
            </a:r>
            <a:r>
              <a:rPr lang="en-US" altLang="ko-KR" sz="1600" dirty="0"/>
              <a:t>'Pass' </a:t>
            </a:r>
            <a:r>
              <a:rPr lang="ko-KR" altLang="en-US" sz="1600" dirty="0"/>
              <a:t>처리되어 있음</a:t>
            </a:r>
            <a:r>
              <a:rPr lang="en-US" altLang="ko-KR" sz="1600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/>
              <a:t>이는 장비 헌팅 에러 또는 단순 </a:t>
            </a:r>
            <a:r>
              <a:rPr lang="ko-KR" altLang="en-US" sz="1600" dirty="0" err="1"/>
              <a:t>오기입</a:t>
            </a:r>
            <a:r>
              <a:rPr lang="en-US" altLang="ko-KR" sz="1600" dirty="0"/>
              <a:t>(242.x um </a:t>
            </a:r>
            <a:r>
              <a:rPr lang="ko-KR" altLang="en-US" sz="1600" dirty="0"/>
              <a:t>오타</a:t>
            </a:r>
            <a:r>
              <a:rPr lang="en-US" altLang="ko-KR" sz="1600" dirty="0"/>
              <a:t>)</a:t>
            </a:r>
            <a:r>
              <a:rPr lang="ko-KR" altLang="en-US" sz="1600" dirty="0"/>
              <a:t>으로 보이며</a:t>
            </a:r>
            <a:r>
              <a:rPr lang="en-US" altLang="ko-KR" sz="1600" dirty="0"/>
              <a:t>, </a:t>
            </a:r>
            <a:r>
              <a:rPr lang="ko-KR" altLang="en-US" sz="1600" dirty="0"/>
              <a:t>이상치를 확인</a:t>
            </a:r>
            <a:r>
              <a:rPr lang="en-US" altLang="ko-KR" sz="1600" dirty="0"/>
              <a:t>/</a:t>
            </a:r>
            <a:r>
              <a:rPr lang="ko-KR" altLang="en-US" sz="1600" dirty="0" err="1"/>
              <a:t>재측정하지</a:t>
            </a:r>
            <a:r>
              <a:rPr lang="ko-KR" altLang="en-US" sz="1600" dirty="0"/>
              <a:t> 않고 그대로 통계 처리하여 </a:t>
            </a:r>
            <a:r>
              <a:rPr lang="en-US" altLang="ko-KR" sz="1600" dirty="0"/>
              <a:t>'Pass' </a:t>
            </a:r>
            <a:r>
              <a:rPr lang="ko-KR" altLang="en-US" sz="1600" dirty="0"/>
              <a:t>낸 것은 엔지니어링 데이터로 부적합함</a:t>
            </a:r>
            <a:r>
              <a:rPr lang="en-US" altLang="ko-KR" sz="1600" dirty="0"/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FDA1C7-2D56-71B3-0D5F-E1462119A9B9}"/>
              </a:ext>
            </a:extLst>
          </p:cNvPr>
          <p:cNvSpPr txBox="1"/>
          <p:nvPr/>
        </p:nvSpPr>
        <p:spPr>
          <a:xfrm>
            <a:off x="280256" y="3585176"/>
            <a:ext cx="93454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두 번째 발견된 문제점 </a:t>
            </a:r>
            <a:r>
              <a:rPr lang="en-US" altLang="ko-KR" sz="1600" dirty="0">
                <a:solidFill>
                  <a:srgbClr val="FF0000"/>
                </a:solidFill>
              </a:rPr>
              <a:t>: Saw </a:t>
            </a:r>
            <a:r>
              <a:rPr lang="ko-KR" altLang="en-US" sz="1600" dirty="0">
                <a:solidFill>
                  <a:srgbClr val="FF0000"/>
                </a:solidFill>
              </a:rPr>
              <a:t>공정 </a:t>
            </a:r>
            <a:r>
              <a:rPr lang="en-US" altLang="ko-KR" sz="1600" dirty="0">
                <a:solidFill>
                  <a:srgbClr val="FF0000"/>
                </a:solidFill>
              </a:rPr>
              <a:t>Kerf Width </a:t>
            </a:r>
            <a:r>
              <a:rPr lang="ko-KR" altLang="en-US" sz="1600" dirty="0">
                <a:solidFill>
                  <a:srgbClr val="FF0000"/>
                </a:solidFill>
              </a:rPr>
              <a:t>결과가 </a:t>
            </a:r>
            <a:r>
              <a:rPr lang="en-US" altLang="ko-KR" sz="1600" dirty="0">
                <a:solidFill>
                  <a:srgbClr val="FF0000"/>
                </a:solidFill>
              </a:rPr>
              <a:t>1~3</a:t>
            </a:r>
            <a:r>
              <a:rPr lang="ko-KR" altLang="en-US" sz="1600" dirty="0">
                <a:solidFill>
                  <a:srgbClr val="FF0000"/>
                </a:solidFill>
              </a:rPr>
              <a:t>차 모두 </a:t>
            </a:r>
            <a:r>
              <a:rPr lang="en-US" altLang="ko-KR" sz="1600" dirty="0">
                <a:solidFill>
                  <a:srgbClr val="FF0000"/>
                </a:solidFill>
              </a:rPr>
              <a:t>'Pass'</a:t>
            </a:r>
            <a:r>
              <a:rPr lang="ko-KR" altLang="en-US" sz="1600" dirty="0">
                <a:solidFill>
                  <a:srgbClr val="FF0000"/>
                </a:solidFill>
              </a:rPr>
              <a:t>로 판정되어 있으나</a:t>
            </a:r>
            <a:r>
              <a:rPr lang="en-US" altLang="ko-KR" sz="1600" dirty="0">
                <a:solidFill>
                  <a:srgbClr val="FF0000"/>
                </a:solidFill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</a:rPr>
              <a:t>산출된 공정능력지수</a:t>
            </a:r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en-US" altLang="ko-KR" sz="1600" dirty="0" err="1">
                <a:solidFill>
                  <a:srgbClr val="FF0000"/>
                </a:solidFill>
              </a:rPr>
              <a:t>Cpk</a:t>
            </a:r>
            <a:r>
              <a:rPr lang="en-US" altLang="ko-KR" sz="1600" dirty="0">
                <a:solidFill>
                  <a:srgbClr val="FF0000"/>
                </a:solidFill>
              </a:rPr>
              <a:t>)</a:t>
            </a:r>
            <a:r>
              <a:rPr lang="ko-KR" altLang="en-US" sz="1600" dirty="0">
                <a:solidFill>
                  <a:srgbClr val="FF0000"/>
                </a:solidFill>
              </a:rPr>
              <a:t>는 </a:t>
            </a:r>
            <a:r>
              <a:rPr lang="en-US" altLang="ko-KR" sz="1600" dirty="0">
                <a:solidFill>
                  <a:srgbClr val="FF0000"/>
                </a:solidFill>
              </a:rPr>
              <a:t>0.52 ~ 1.02</a:t>
            </a:r>
            <a:r>
              <a:rPr lang="ko-KR" altLang="en-US" sz="1600" dirty="0">
                <a:solidFill>
                  <a:srgbClr val="FF0000"/>
                </a:solidFill>
              </a:rPr>
              <a:t>에 불과함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  부적합 이유</a:t>
            </a:r>
            <a:endParaRPr lang="en-US" altLang="ko-KR" sz="1600" dirty="0"/>
          </a:p>
          <a:p>
            <a:r>
              <a:rPr lang="en-US" altLang="ko-KR" sz="1600" dirty="0"/>
              <a:t>1.  </a:t>
            </a:r>
            <a:r>
              <a:rPr lang="ko-KR" altLang="en-US" sz="1600" dirty="0"/>
              <a:t>반도체 양산 승인</a:t>
            </a:r>
            <a:r>
              <a:rPr lang="en-US" altLang="ko-KR" sz="1600" dirty="0"/>
              <a:t>(Mass Qual) </a:t>
            </a:r>
            <a:r>
              <a:rPr lang="ko-KR" altLang="en-US" sz="1600" dirty="0"/>
              <a:t>기준 최소 요구 </a:t>
            </a:r>
            <a:r>
              <a:rPr lang="en-US" altLang="ko-KR" sz="1600" dirty="0" err="1"/>
              <a:t>Cpk</a:t>
            </a:r>
            <a:r>
              <a:rPr lang="ko-KR" altLang="en-US" sz="1600" dirty="0"/>
              <a:t>는 통상 </a:t>
            </a:r>
            <a:r>
              <a:rPr lang="en-US" altLang="ko-KR" sz="1600" dirty="0"/>
              <a:t>1.33 </a:t>
            </a:r>
            <a:r>
              <a:rPr lang="ko-KR" altLang="en-US" sz="1600" dirty="0"/>
              <a:t>이상 </a:t>
            </a:r>
            <a:r>
              <a:rPr lang="en-US" altLang="ko-KR" sz="1600" dirty="0"/>
              <a:t>(</a:t>
            </a:r>
            <a:r>
              <a:rPr lang="ko-KR" altLang="en-US" sz="1600" dirty="0"/>
              <a:t>우수 공정은 </a:t>
            </a:r>
            <a:r>
              <a:rPr lang="en-US" altLang="ko-KR" sz="1600" dirty="0"/>
              <a:t>1.67 </a:t>
            </a:r>
            <a:r>
              <a:rPr lang="ko-KR" altLang="en-US" sz="1600" dirty="0"/>
              <a:t>이상</a:t>
            </a:r>
            <a:r>
              <a:rPr lang="en-US" altLang="ko-KR" sz="1600" dirty="0"/>
              <a:t>)</a:t>
            </a:r>
            <a:r>
              <a:rPr lang="ko-KR" altLang="en-US" sz="1600" dirty="0"/>
              <a:t>임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2.  </a:t>
            </a:r>
            <a:r>
              <a:rPr lang="ko-KR" altLang="en-US" sz="1600" dirty="0"/>
              <a:t>실측치 자체는 상한 규격</a:t>
            </a:r>
            <a:r>
              <a:rPr lang="en-US" altLang="ko-KR" sz="1600" dirty="0"/>
              <a:t>(Max 65 um) </a:t>
            </a:r>
            <a:r>
              <a:rPr lang="ko-KR" altLang="en-US" sz="1600" dirty="0"/>
              <a:t>미만이나</a:t>
            </a:r>
            <a:r>
              <a:rPr lang="en-US" altLang="ko-KR" sz="1600" dirty="0"/>
              <a:t>, </a:t>
            </a:r>
            <a:r>
              <a:rPr lang="ko-KR" altLang="en-US" sz="1600" dirty="0"/>
              <a:t>평균값</a:t>
            </a:r>
            <a:r>
              <a:rPr lang="en-US" altLang="ko-KR" sz="1600" dirty="0"/>
              <a:t>(61~62 um)</a:t>
            </a:r>
            <a:r>
              <a:rPr lang="ko-KR" altLang="en-US" sz="1600" dirty="0"/>
              <a:t>이 상한 규격에 너무 근접하여 공정 마진이 매우 부족함</a:t>
            </a:r>
            <a:r>
              <a:rPr lang="en-US" altLang="ko-KR" sz="1600" dirty="0"/>
              <a:t>. </a:t>
            </a:r>
          </a:p>
          <a:p>
            <a:r>
              <a:rPr lang="en-US" altLang="ko-KR" sz="1600" dirty="0"/>
              <a:t>3. </a:t>
            </a:r>
            <a:r>
              <a:rPr lang="ko-KR" altLang="en-US" sz="1600" dirty="0"/>
              <a:t>따라서 </a:t>
            </a:r>
            <a:r>
              <a:rPr lang="en-US" altLang="ko-KR" sz="1600" dirty="0" err="1"/>
              <a:t>Cpk</a:t>
            </a:r>
            <a:r>
              <a:rPr lang="en-US" altLang="ko-KR" sz="1600" dirty="0"/>
              <a:t> </a:t>
            </a:r>
            <a:r>
              <a:rPr lang="ko-KR" altLang="en-US" sz="1600" dirty="0"/>
              <a:t>기준</a:t>
            </a:r>
            <a:r>
              <a:rPr lang="en-US" altLang="ko-KR" sz="1600" dirty="0"/>
              <a:t>(1.33)</a:t>
            </a:r>
            <a:r>
              <a:rPr lang="ko-KR" altLang="en-US" sz="1600" dirty="0"/>
              <a:t>을 미달함에도 단순 실측 수치가 규격 내에 있다는 이유로 </a:t>
            </a:r>
            <a:r>
              <a:rPr lang="en-US" altLang="ko-KR" sz="1600" dirty="0"/>
              <a:t>'Pass' </a:t>
            </a:r>
            <a:r>
              <a:rPr lang="ko-KR" altLang="en-US" sz="1600" dirty="0"/>
              <a:t>판정하여 양산으로 넘기는 것은 엔지니어 평가 결과로 적합하지 않음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32460245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cynerpower_dark_full">
  <a:themeElements>
    <a:clrScheme name="cynerpower_dark_full 2">
      <a:dk1>
        <a:srgbClr val="000000"/>
      </a:dk1>
      <a:lt1>
        <a:srgbClr val="FFFFFF"/>
      </a:lt1>
      <a:dk2>
        <a:srgbClr val="486284"/>
      </a:dk2>
      <a:lt2>
        <a:srgbClr val="F8F8F8"/>
      </a:lt2>
      <a:accent1>
        <a:srgbClr val="98B9DA"/>
      </a:accent1>
      <a:accent2>
        <a:srgbClr val="4070A0"/>
      </a:accent2>
      <a:accent3>
        <a:srgbClr val="B1B7C2"/>
      </a:accent3>
      <a:accent4>
        <a:srgbClr val="DADADA"/>
      </a:accent4>
      <a:accent5>
        <a:srgbClr val="CAD9EA"/>
      </a:accent5>
      <a:accent6>
        <a:srgbClr val="396591"/>
      </a:accent6>
      <a:hlink>
        <a:srgbClr val="234359"/>
      </a:hlink>
      <a:folHlink>
        <a:srgbClr val="10151E"/>
      </a:folHlink>
    </a:clrScheme>
    <a:fontScheme name="cynerpower_dark_ful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ynerpower_dark_full 1">
        <a:dk1>
          <a:srgbClr val="000000"/>
        </a:dk1>
        <a:lt1>
          <a:srgbClr val="FFFFFF"/>
        </a:lt1>
        <a:dk2>
          <a:srgbClr val="777777"/>
        </a:dk2>
        <a:lt2>
          <a:srgbClr val="F8F8F8"/>
        </a:lt2>
        <a:accent1>
          <a:srgbClr val="C9C9C9"/>
        </a:accent1>
        <a:accent2>
          <a:srgbClr val="666666"/>
        </a:accent2>
        <a:accent3>
          <a:srgbClr val="BDBDBD"/>
        </a:accent3>
        <a:accent4>
          <a:srgbClr val="DADADA"/>
        </a:accent4>
        <a:accent5>
          <a:srgbClr val="E1E1E1"/>
        </a:accent5>
        <a:accent6>
          <a:srgbClr val="5C5C5C"/>
        </a:accent6>
        <a:hlink>
          <a:srgbClr val="464646"/>
        </a:hlink>
        <a:folHlink>
          <a:srgbClr val="11111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ynerpower_dark_full 2">
        <a:dk1>
          <a:srgbClr val="000000"/>
        </a:dk1>
        <a:lt1>
          <a:srgbClr val="FFFFFF"/>
        </a:lt1>
        <a:dk2>
          <a:srgbClr val="486284"/>
        </a:dk2>
        <a:lt2>
          <a:srgbClr val="F8F8F8"/>
        </a:lt2>
        <a:accent1>
          <a:srgbClr val="98B9DA"/>
        </a:accent1>
        <a:accent2>
          <a:srgbClr val="4070A0"/>
        </a:accent2>
        <a:accent3>
          <a:srgbClr val="B1B7C2"/>
        </a:accent3>
        <a:accent4>
          <a:srgbClr val="DADADA"/>
        </a:accent4>
        <a:accent5>
          <a:srgbClr val="CAD9EA"/>
        </a:accent5>
        <a:accent6>
          <a:srgbClr val="396591"/>
        </a:accent6>
        <a:hlink>
          <a:srgbClr val="234359"/>
        </a:hlink>
        <a:folHlink>
          <a:srgbClr val="10151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ynerpower_dark_full 3">
        <a:dk1>
          <a:srgbClr val="000000"/>
        </a:dk1>
        <a:lt1>
          <a:srgbClr val="FFFFFF"/>
        </a:lt1>
        <a:dk2>
          <a:srgbClr val="60898E"/>
        </a:dk2>
        <a:lt2>
          <a:srgbClr val="F8F8F8"/>
        </a:lt2>
        <a:accent1>
          <a:srgbClr val="AFD9E3"/>
        </a:accent1>
        <a:accent2>
          <a:srgbClr val="45868B"/>
        </a:accent2>
        <a:accent3>
          <a:srgbClr val="B6C4C6"/>
        </a:accent3>
        <a:accent4>
          <a:srgbClr val="DADADA"/>
        </a:accent4>
        <a:accent5>
          <a:srgbClr val="D4E9EF"/>
        </a:accent5>
        <a:accent6>
          <a:srgbClr val="3E797D"/>
        </a:accent6>
        <a:hlink>
          <a:srgbClr val="125862"/>
        </a:hlink>
        <a:folHlink>
          <a:srgbClr val="0F2C2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ynerpower_dark_full 4">
        <a:dk1>
          <a:srgbClr val="000000"/>
        </a:dk1>
        <a:lt1>
          <a:srgbClr val="FFFFFF"/>
        </a:lt1>
        <a:dk2>
          <a:srgbClr val="61698D"/>
        </a:dk2>
        <a:lt2>
          <a:srgbClr val="F8F8F8"/>
        </a:lt2>
        <a:accent1>
          <a:srgbClr val="BEBCD2"/>
        </a:accent1>
        <a:accent2>
          <a:srgbClr val="66698E"/>
        </a:accent2>
        <a:accent3>
          <a:srgbClr val="B7B9C5"/>
        </a:accent3>
        <a:accent4>
          <a:srgbClr val="DADADA"/>
        </a:accent4>
        <a:accent5>
          <a:srgbClr val="DBDAE5"/>
        </a:accent5>
        <a:accent6>
          <a:srgbClr val="5C5E80"/>
        </a:accent6>
        <a:hlink>
          <a:srgbClr val="40405E"/>
        </a:hlink>
        <a:folHlink>
          <a:srgbClr val="0E0F1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ynerpower_dark_full 5">
        <a:dk1>
          <a:srgbClr val="000000"/>
        </a:dk1>
        <a:lt1>
          <a:srgbClr val="FFFFFF"/>
        </a:lt1>
        <a:dk2>
          <a:srgbClr val="8E7A62"/>
        </a:dk2>
        <a:lt2>
          <a:srgbClr val="F8F8F8"/>
        </a:lt2>
        <a:accent1>
          <a:srgbClr val="D5C0A5"/>
        </a:accent1>
        <a:accent2>
          <a:srgbClr val="86725A"/>
        </a:accent2>
        <a:accent3>
          <a:srgbClr val="C6BEB7"/>
        </a:accent3>
        <a:accent4>
          <a:srgbClr val="DADADA"/>
        </a:accent4>
        <a:accent5>
          <a:srgbClr val="E7DCCF"/>
        </a:accent5>
        <a:accent6>
          <a:srgbClr val="796751"/>
        </a:accent6>
        <a:hlink>
          <a:srgbClr val="544438"/>
        </a:hlink>
        <a:folHlink>
          <a:srgbClr val="40393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30736</TotalTime>
  <Words>1855</Words>
  <Application>Microsoft Office PowerPoint</Application>
  <PresentationFormat>A4 용지(210x297mm)</PresentationFormat>
  <Paragraphs>656</Paragraphs>
  <Slides>10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4" baseType="lpstr">
      <vt:lpstr>Wingdings</vt:lpstr>
      <vt:lpstr>Verdana</vt:lpstr>
      <vt:lpstr>Tahoma</vt:lpstr>
      <vt:lpstr>Times New Roman</vt:lpstr>
      <vt:lpstr>돋움</vt:lpstr>
      <vt:lpstr>Trebuchet MS</vt:lpstr>
      <vt:lpstr>Arial</vt:lpstr>
      <vt:lpstr>Batang</vt:lpstr>
      <vt:lpstr>Calibri Light</vt:lpstr>
      <vt:lpstr>굴림</vt:lpstr>
      <vt:lpstr>맑은 고딕</vt:lpstr>
      <vt:lpstr>기본 디자인</vt:lpstr>
      <vt:lpstr>4_cynerpower_dark_full</vt:lpstr>
      <vt:lpstr>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utc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방해정(Hae Jung,Bang)</dc:creator>
  <cp:lastModifiedBy>용모 김</cp:lastModifiedBy>
  <cp:revision>2465</cp:revision>
  <cp:lastPrinted>2026-09-12T12:49:21Z</cp:lastPrinted>
  <dcterms:modified xsi:type="dcterms:W3CDTF">2026-09-12T13:23:51Z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D">
    <vt:lpwstr>OBb5e91e8000e8a3</vt:lpwstr>
  </property>
  <property fmtid="{D5CDD505-2E9C-101B-9397-08002B2CF9AE}" pid="3" name="DOCSTATE">
    <vt:lpwstr>new</vt:lpwstr>
  </property>
  <property fmtid="{D5CDD505-2E9C-101B-9397-08002B2CF9AE}" pid="4" name="DOCSTORAGE">
    <vt:lpwstr>62/9e34a43f10b320b3b8f9118b145205134b82a453</vt:lpwstr>
  </property>
  <property fmtid="{D5CDD505-2E9C-101B-9397-08002B2CF9AE}" pid="5" name="NSCPROP_SA">
    <vt:lpwstr>C:\Users\1100839\Desktop\HT\Report\153eMMC_32GB\01. 221eMCP_A-538_1st CS_Build_Report_rev03_20181211.pptx</vt:lpwstr>
  </property>
</Properties>
</file>